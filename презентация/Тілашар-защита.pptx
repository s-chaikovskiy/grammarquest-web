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[имя], я учусь в [класс].</a:t>
            </a:r>
          </a:p>
          <a:p/>
          <a:p>
            <a:r>
              <a:t>Проект начался не с идеи, а с раздражения: я занимался казахским в приложении</a:t>
            </a:r>
          </a:p>
          <a:p>
            <a:r>
              <a:t>и раз за разом получал «неверно» там, где ответ был правильный. Я решил разобраться</a:t>
            </a:r>
          </a:p>
          <a:p>
            <a:r>
              <a:t>почему — и оказалось, что причина техническая, и её можно устранить.</a:t>
            </a:r>
          </a:p>
          <a:p/>
          <a:p>
            <a:r>
              <a:t>Название «Тілашар» объясню на следующем слайде, если спросят — можно сразу здесь:</a:t>
            </a:r>
          </a:p>
          <a:p>
            <a:r>
              <a:t>«тіл» — язык, «ашар» — откроет. Так называли первые словари-разговорники.</a:t>
            </a:r>
          </a:p>
          <a:p/>
          <a:p>
            <a:r>
              <a:t>Весь доклад — 8–9 минут. На титуле не задерживаться дольше 30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Казахский обязателен в школе. Но тренажёра, где объяснение идёт по-русски, почти нет.</a:t>
            </a:r>
          </a:p>
          <a:p/>
          <a:p>
            <a:r>
              <a:t>Я проверил список курсов Duolingo на их собственном сайте в день подготовки доклада</a:t>
            </a:r>
          </a:p>
          <a:p>
            <a:r>
              <a:t>и поставил дату. Если жюри спросит — можно открыть сайт прямо при них.</a:t>
            </a:r>
          </a:p>
          <a:p/>
          <a:p>
            <a:r>
              <a:t>Не говорить «Duolingo плохой». Говорить: он рассчитан на языки с большой аудиторией,</a:t>
            </a:r>
          </a:p>
          <a:p>
            <a:r>
              <a:t>и это нормально. Ниша казахского остаётся незакрытой.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я не стал сразу переделывать программу. Сначала вопрос и гипотеза,</a:t>
            </a:r>
          </a:p>
          <a:p>
            <a:r>
              <a:t>потом проверка.</a:t>
            </a:r>
          </a:p>
          <a:p/>
          <a:p>
            <a:r>
              <a:t>Гипотезу я сформулировал так, чтобы её можно было опровергнуть. Если бы барьеры</a:t>
            </a:r>
          </a:p>
          <a:p>
            <a:r>
              <a:t>оказались не техническими, она бы не подтвердилась — и это был бы честный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Задачи расположены в том порядке, в каком я их делал. Первая — именно «измерить»,</a:t>
            </a:r>
          </a:p>
          <a:p>
            <a:r>
              <a:t>а не «улучшить»: пока не знаешь причину, улучшать нечего.</a:t>
            </a:r>
          </a:p>
          <a:p/>
          <a:p>
            <a:r>
              <a:t>Если спросят, почему 5–11 класс: казахский идёт во всех этих классах, а уровень</a:t>
            </a:r>
          </a:p>
          <a:p>
            <a:r>
              <a:t>подготовки в них разный — отсюда три уровня в приложении.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методический слайд, ради него проект и считается научным.</a:t>
            </a:r>
          </a:p>
          <a:p/>
          <a:p>
            <a:r>
              <a:t>Главное, что нужно донести: ни одно число в докладе не взято из головы.</a:t>
            </a:r>
          </a:p>
          <a:p>
            <a:r>
              <a:t>Любое можно пересчитать той же командой при жюри.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находка проекта. Здесь стоит сделать паузу.</a:t>
            </a:r>
          </a:p>
          <a:p/>
          <a:p>
            <a:r>
              <a:t>Скажите фразу целиком: «ученик отвечал верно и получал ошибку». Дайте жюри</a:t>
            </a:r>
          </a:p>
          <a:p>
            <a:r>
              <a:t>секунду. Именно из-за этого прежнюю версию и бросали.</a:t>
            </a:r>
          </a:p>
          <a:p/>
          <a:p>
            <a:r>
              <a:t>Если спросят «а нельзя было просто поставить казахскую раскладку» — можно,</a:t>
            </a:r>
          </a:p>
          <a:p>
            <a:r>
              <a:t>но школьник не будет переключать раскладку на каждое задание, а на телефоне</a:t>
            </a:r>
          </a:p>
          <a:p>
            <a:r>
              <a:t>это ещё и лишние касания.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Слайд, который обычно удивляет. Большинство популярных шрифтов казахские буквы</a:t>
            </a:r>
          </a:p>
          <a:p>
            <a:r>
              <a:t>не содержат — их приходится проверять отдельно.</a:t>
            </a:r>
          </a:p>
          <a:p/>
          <a:p>
            <a:r>
              <a:t>Ещё одна деталь: шрифт грузился с сайта Google. Приложение объявлено работающим</a:t>
            </a:r>
          </a:p>
          <a:p>
            <a:r>
              <a:t>без интернета — а без интернета шрифт не приезжал вовсе.</a:t>
            </a:r>
          </a:p>
          <a:p/>
          <a:p>
            <a:r>
              <a:t>Golos Text выбран не «потому что красивый», а потому что содержит все девять букв.</a:t>
            </a:r>
          </a:p>
          <a:p>
            <a:r>
              <a:t>Лицензия свободная, файл лицензии лежит в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не злорадствовать над прежней версией — её писал я же, только раньше</a:t>
            </a:r>
          </a:p>
          <a:p>
            <a:r>
              <a:t>и с помощью нейросети, которая уверенно описывала то, чего не сделала.</a:t>
            </a:r>
          </a:p>
          <a:p/>
          <a:p>
            <a:r>
              <a:t>Главный вывод для меня: описание в документации ничего не доказывает. Проверять</a:t>
            </a:r>
          </a:p>
          <a:p>
            <a:r>
              <a:t>надо код и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свёртку букв: приложение приводит казахские буквы к похожим русским и сравнивает.</a:t>
            </a:r>
          </a:p>
          <a:p>
            <a:r>
              <a:t>Ответ засчитывается, но правильное написание показывается обязательно — иначе</a:t>
            </a:r>
          </a:p>
          <a:p>
            <a:r>
              <a:t>ученик так и не научится писать «кітап».</a:t>
            </a:r>
          </a:p>
          <a:p/>
          <a:p>
            <a:r>
              <a:t>Самый тонкий момент — «почти верно». Об этом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показывает, что задача была не программистская, а языковая.</a:t>
            </a:r>
          </a:p>
          <a:p/>
          <a:p>
            <a:r>
              <a:t>Я сначала сделал «как у всех» — допуск в один-два символа. И проверка стала засчитывать</a:t>
            </a:r>
          </a:p>
          <a:p>
            <a:r>
              <a:t>«ты читаешь» вместо «я читаю». Ученик получал похвалу за неверную форму — это хуже,</a:t>
            </a:r>
          </a:p>
          <a:p>
            <a:r>
              <a:t>чем строгий отказ.</a:t>
            </a:r>
          </a:p>
          <a:p/>
          <a:p>
            <a:r>
              <a:t>Если жюри спросит, откуда правило: из свойства агглютинативного языка. В казахском</a:t>
            </a:r>
          </a:p>
          <a:p>
            <a:r>
              <a:t>окончание — отдельная морфема, а не часть корня.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самая содержательная часть проекта с точки зрения языка.</a:t>
            </a:r>
          </a:p>
          <a:p/>
          <a:p>
            <a:r>
              <a:t>Пример с «кітабым» стоит проговорить вслух: в учебнике это отдельное правило,</a:t>
            </a:r>
          </a:p>
          <a:p>
            <a:r>
              <a:t>а у меня оно работает на любом слове, которое введёт ученик.</a:t>
            </a:r>
          </a:p>
          <a:p/>
          <a:p>
            <a:r>
              <a:t>Если спросят про тесты: 21 тест именно на морфологии, всего в проекте 70.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Честный момент, который лучше сказать самому, не дожидаясь вопроса: базовые уроки</a:t>
            </a:r>
          </a:p>
          <a:p>
            <a:r>
              <a:t>писал я, а не носитель языка, поэтому они идут на проверку учителю.</a:t>
            </a:r>
          </a:p>
          <a:p/>
          <a:p>
            <a:r>
              <a:t>Про уровень: он подсказка, а не замок. Уроки не запираются — школьник, которому тема</a:t>
            </a:r>
          </a:p>
          <a:p>
            <a:r>
              <a:t>уже знакома, не должен продираться через всё подряд.</a:t>
            </a:r>
          </a:p>
          <a:p/>
          <a:p>
            <a:r>
              <a:t>Про дистракторы (неверные варианты в заданиях с выбором): они не случайные, а построены</a:t>
            </a:r>
          </a:p>
          <a:p>
            <a:r>
              <a:t>по правилам морфологии — другое лицо, другое время того же глагола.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Интервальное повторение — известный приём, я его не изобретал. Важно, что теперь</a:t>
            </a:r>
          </a:p>
          <a:p>
            <a:r>
              <a:t>он действительно работает: в прежней версии экран был, а алгоритма не было.</a:t>
            </a:r>
          </a:p>
          <a:p/>
          <a:p>
            <a:r>
              <a:t>Разбор ошибок в конце урока не начисляет очки намеренно: он нужен, чтобы разобраться,</a:t>
            </a:r>
          </a:p>
          <a:p>
            <a:r>
              <a:t>а не чтобы набрать XP.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 выбрать</a:t>
            </a:r>
          </a:p>
          <a:p>
            <a:r>
              <a:t>короткий урок, проверить интернет — хотя он и не нужен, приложение работает офлайн.</a:t>
            </a:r>
          </a:p>
          <a:p/>
          <a:p>
            <a:r>
              <a:t>Запасной вариант, если проектор не покажет телефон: скриншоты в конце колоды.</a:t>
            </a:r>
          </a:p>
          <a:p/>
          <a:p>
            <a:r>
              <a:t>Показывать не больше одного задания. Смысл слайда — что это работает, а не пересказ</a:t>
            </a:r>
          </a:p>
          <a:p>
            <a:r>
              <a:t>интерфейса.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вес: код и стили — 199 килобайт, всё приложение целиком около 1,4 мегабайта.</a:t>
            </a:r>
          </a:p>
          <a:p>
            <a:r>
              <a:t>Это меньше одной фотографии с телефона. Важно для школьного телефона</a:t>
            </a:r>
          </a:p>
          <a:p>
            <a:r>
              <a:t>с дешёвым интернетом.</a:t>
            </a:r>
          </a:p>
          <a:p/>
          <a:p>
            <a:r>
              <a:t>Если спросят про озвучку: система готова, фразы отобраны, каждая реплика привязана</a:t>
            </a:r>
          </a:p>
          <a:p>
            <a:r>
              <a:t>к своему голосу. Записи добавляются файлами и подхватываются без изменения кода.</a:t>
            </a:r>
          </a:p>
          <a:p>
            <a:r>
              <a:t>Браузерный синтез намеренно не используется — казахских голосов в системе нет,</a:t>
            </a:r>
          </a:p>
          <a:p>
            <a:r>
              <a:t>и казахский текст читался бы чужим языком.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отвечает на самый частый вопрос жюри: «а что здесь сделал ты?».</a:t>
            </a:r>
          </a:p>
          <a:p/>
          <a:p>
            <a:r>
              <a:t>Отвечать спокойно и честно: код помогала писать нейросеть, а работа исследователя —</a:t>
            </a:r>
          </a:p>
          <a:p>
            <a:r>
              <a:t>поставить вопрос, измерить, найти причину и проверить результат. Прежняя версия</a:t>
            </a:r>
          </a:p>
          <a:p>
            <a:r>
              <a:t>как раз и была написана без проверки — и не работала.</a:t>
            </a:r>
          </a:p>
          <a:p/>
          <a:p>
            <a:r>
              <a:t>Про проверку формулировок: в первой версии задание просило написать любое имя,</a:t>
            </a:r>
          </a:p>
          <a:p>
            <a:r>
              <a:t>а принимало только одно. Теперь такие обещания ловятся автоматически при сборке.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Слайд, где нельзя врать. Если жюри спросит «а результаты?» — ответ: эксперимент</a:t>
            </a:r>
          </a:p>
          <a:p>
            <a:r>
              <a:t>запланирован, инструмент готов, данных пока нет.</a:t>
            </a:r>
          </a:p>
          <a:p/>
          <a:p>
            <a:r>
              <a:t>Это сильнее, чем выдуманные проценты: члены жюри такие проценты слышат каждый год</a:t>
            </a:r>
          </a:p>
          <a:p>
            <a:r>
              <a:t>и умеют их отличать.</a:t>
            </a:r>
          </a:p>
          <a:p/>
          <a:p>
            <a:r>
              <a:t>Если апробация к защите пройдёт — слайд заменяется настоящими числами, они</a:t>
            </a:r>
          </a:p>
          <a:p>
            <a:r>
              <a:t>выгружаются из приложения одной кнопкой.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вывод по бумажке — сказать своими словами.</a:t>
            </a:r>
          </a:p>
          <a:p/>
          <a:p>
            <a:r>
              <a:t>Главная мысль на прощание: казахский не сложнее других языков. Ученику мешало то,</a:t>
            </a:r>
          </a:p>
          <a:p>
            <a:r>
              <a:t>что он не мог нажать нужную букву, а объяснения были написаны не про тот язык.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поставил вопрос, измерил, нашёл причины и проверил</a:t>
            </a:r>
          </a:p>
          <a:p>
            <a:r>
              <a:t>   результат. Прежняя версия была написана без проверки — она и не работала.</a:t>
            </a:r>
          </a:p>
          <a:p/>
          <a:p>
            <a:r>
              <a:t>2. «Результаты апробации есть?»</a:t>
            </a:r>
          </a:p>
          <a:p>
            <a:r>
              <a:t>   Нет. Эксперимент запланирован, инструмент сбора встроен, данных пока нет.</a:t>
            </a:r>
          </a:p>
          <a:p>
            <a:r>
              <a:t>   Придумывать проценты я не стал.</a:t>
            </a:r>
          </a:p>
          <a:p/>
          <a:p>
            <a:r>
              <a:t>3. «Чем вы лучше Duolingo?»</a:t>
            </a:r>
          </a:p>
          <a:p>
            <a:r>
              <a:t>   Мы не лучше. Казахского там просто нет — я проверял в день подготовки доклада.</a:t>
            </a:r>
          </a:p>
          <a:p/>
          <a:p>
            <a:r>
              <a:t>4. «Уроки писал носитель языка?»</a:t>
            </a:r>
          </a:p>
          <a:p>
            <a:r>
              <a:t>   Восемь базовых уроков написал я, они помечены в проекте и проходят проверку</a:t>
            </a:r>
          </a:p>
          <a:p>
            <a:r>
              <a:t>   у учителя казахского языка. Остальные взяты из прежней версии курса.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НАУЧНЫЙ ПРОЕКТ · КАЗАХСТАН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Тренажёр, который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не спорит с учеником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9121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«Тілашар» — приложение для тех, кто говорит по-русски и учит казахский.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Рассказываю, почему прежняя версия не работала, что я в ней измерил и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что сделал.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ЗАДАНИЙ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ТИПОВ УПРАЖНЕНИЙ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ОТВЕТОВ ТРЕБУЮТ ОСОБЫХ БУКВ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ФАМИЛИЯ ИМЯ · __ КЛАСС · ШКОЛА №__, Г. ____ · НАУЧНЫЙ РУКОВОДИТЕЛЬ: 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46400"/>
            <a:ext cx="5245455" cy="12344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46400"/>
            <a:ext cx="5245455" cy="17551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46400"/>
            <a:ext cx="32004" cy="1755139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АКТУАЛЬНОСТЬ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Казахский учат все, а тренажёра для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русскоязычного ученика почти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Казахский изучают во всех школах страны, в том числе там, где обучение идёт на русском. Цифровых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тренажёров, где объяснение даётся по-русски, а учат казахскому, крайне мало.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45232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82112"/>
            <a:ext cx="4733391" cy="13078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На duolingo.com в разделе курсов для говорящих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по-русски доступно девять языков: английский,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немецкий, французский, испанский, китайский,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корейский, японский, итальянский, португальский.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Казахского в этом списке нет.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184144"/>
            <a:ext cx="4733391" cy="781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Значит, школьнику остаются учебник и тетрадь. Между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тем язык даёт именно короткая ежедневная практика по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10–15 минут — то, что удобно делать с телефона.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Источник: duolingo.com/courses, раздел «Курсы для тех, кто знает русский». Проверено 25.08.2026.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04202" y="2919476"/>
            <a:ext cx="4337684" cy="1799843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19476"/>
            <a:ext cx="6153226" cy="225704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ПРОБЛЕМА ИССЛЕДОВАНИЯ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 меня уже была программа. Она не работала —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 я хотел понять почему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Написанная раньше версия тренажёра существовала, но ученики бросали её через несколько заданий. Вместо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того чтобы переписывать наугад, я поставил вопрос как исследовательский.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7144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ВОПРОС ИССЛЕДОВАНИЯ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422904"/>
            <a:ext cx="5604586" cy="157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Что именно мешает русскоязычному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школьнику заниматься казахским в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цифровом тренажёре — содержание,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интерфейс или что-то ещё?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317144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ГИПОТЕЗА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8522" y="3441192"/>
            <a:ext cx="3789045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Главное препятствие — не сложность языка,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а технические барьеры: ученик физически не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может ввести правильный ответ, а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объяснения написаны не про тот язык.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04202" y="2263775"/>
            <a:ext cx="4337684" cy="1964182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4986"/>
            <a:ext cx="10692079" cy="1101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84"/>
              </a:lnSpc>
            </a:pPr>
            <a:r>
              <a:rPr sz="3350" spc="-7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Цель: превратить нерабочий прототип в тренажёр,</a:t>
            </a:r>
          </a:p>
          <a:p>
            <a:pPr algn="l">
              <a:lnSpc>
                <a:spcPts val="3584"/>
              </a:lnSpc>
            </a:pPr>
            <a:r>
              <a:rPr sz="3350" spc="-7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которым можно пользоваться каждый день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2044319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241423"/>
            <a:ext cx="615322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ЗАДАЧИ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71927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571927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Измерить.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Проверить каждое заявленное свойство прежней версии на данных,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 не на глаз.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136315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3136315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Снять барьер ввода.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Сделать так, чтобы верный ответ засчитывался с обычной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русской клавиатуры.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700703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700703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Достроить содержание.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Курс начинался с уровня 8–11 класса — пятикласснику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не за что было зацепиться.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26509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6724" y="4265091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Довести до телефона.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Приложение должно открываться с домашнего экрана и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работать без интернета.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829479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6724" y="4829479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Проверить на людях.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Встроить сбор данных, чтобы результат можно было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измерить, а не заявить.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234" y="2515743"/>
            <a:ext cx="382562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ОБЪЕКТ И ПРЕДМЕТ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234" y="2806827"/>
            <a:ext cx="3825621" cy="12045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Объект — обучение казахскому языку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русскоязычных школьников 5–11 классов.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Предмет — технические препятствия, из-за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которых цифровой тренажёр перестаёт помогать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 начинает мешать.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МЕТОДИКА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7332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Как я проверял: не «кажется», а измерение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2999"/>
            <a:ext cx="8767504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Каждое утверждение о прежней версии я проверял на данных самого проекта. Все проверки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скриптами, которые лежат в репозитории и запускаются заново.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28849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Разбор данных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Посчитал по файлу уроков,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сколько ответов содержит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буквы, которых нет на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русской раскладке.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2115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Разбор шрифтов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2115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Прочитал таблицу символов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скачанных шрифтов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проверил наличие казахских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букв.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4422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4422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Чтение кода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4422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Нашёл, что заявленные типы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заданий нигде не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включались, а один из них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уронил бы экран.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6729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96729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Замер сборки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96729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Измерил вес приложения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картинок, сравнил 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размером, в котором они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показываются на экране.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9036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9036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Автотесты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9036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Написал 70 тестов на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учебниковых формах —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правила проверяются при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каждой сборке.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НАХОДКА 1 · БАРЬЕР ВВОДА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5418"/>
            <a:ext cx="10692079" cy="8200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548"/>
              </a:lnSpc>
            </a:pPr>
            <a:r>
              <a:rPr sz="4250" spc="-9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Девять букв, которых нет на клавиатуре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82437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 казахском есть буквы ә ғ қ ң ө ұ ү һ і. На русской раскладке их физически негде взять. А прежняя проверка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ответов была строгим сравнением строк.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52209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59AAF8"/>
                </a:solidFill>
                <a:latin typeface="GQ Text Bold"/>
                <a:cs typeface="GQ Text Bold"/>
                <a:ea typeface="GQ Text Bold"/>
              </a:rPr>
              <a:t>193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368484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ИЗ 225 ОТВЕТОВ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620345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содержат хотя бы одну такую букву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5274" y="2552209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5274" y="3368484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ЗАДАНИЙ КУРСА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5274" y="3620345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нельзя ввести с русской клавиатуры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0740" y="2552209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0740" y="3368484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ПОДСКАЗОК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0740" y="3620345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прежняя версия не давала ни одной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294568"/>
            <a:ext cx="10692079" cy="95885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492180"/>
            <a:ext cx="10143439" cy="5984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Ученик отвечал грамматически верно — и получал «неправильно». Он делает вывод, что не знает язык. На самом деле он</a:t>
            </a:r>
          </a:p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не может нажать нужную клавишу.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НАХОДКА 2 · ШРИФТЫ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Приложение для казахского было набрано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шрифтом без казахских букв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65025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Я прочитал таблицу символов у скачанных файлов шрифтов. Оказалось, что нужных букв там просто нет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браузер молча подставлял системный шрифт.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965602"/>
            <a:ext cx="320762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ШРИФТ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7431" y="2965602"/>
            <a:ext cx="320762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ГДЕ ПРИМЕНЯЛСЯ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5055" y="2965602"/>
            <a:ext cx="4276831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КАЗАХСКИЕ БУКВЫ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3221228"/>
            <a:ext cx="10692079" cy="7315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3593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Manrope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7431" y="33593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основной текст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65055" y="33593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нет 5 из 9: ә ғ қ ң 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36784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165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Playfair Display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7431" y="38165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заголовки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5055" y="38165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нет 7 из 9: ә ғ қ ң ө ү 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1356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2737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Golos 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7431" y="42737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что стоит сейчас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5055" y="42737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все девять на месте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5928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97687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7" y="517596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Половина слова набрана одной гарнитурой, половина — другой. Выглядит как опечатка, а на деле это подмена шрифта.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Проверено разбором таблицы символов самих файлов шрифтов, а не на глаз. Воспроизводится одной командой: tools/check_fonts.py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НАХОДКА 3 · ЗАЯВЛЕНО И НА ДЕЛЕ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0422"/>
            <a:ext cx="10692079" cy="5981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17"/>
              </a:lnSpc>
            </a:pPr>
            <a:r>
              <a:rPr sz="3100" spc="-6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Половины заявленных возможностей не существовало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07876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Я сверил документацию прежней версии с её же кодом. Разошлось почти всё.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55723"/>
            <a:ext cx="445503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A6ADB6"/>
                </a:solidFill>
                <a:latin typeface="IBM Plex Mono SemiBold"/>
                <a:cs typeface="IBM Plex Mono SemiBold"/>
                <a:ea typeface="IBM Plex Mono SemiBold"/>
              </a:rPr>
              <a:t>ЧТО БЫЛО ЗАЯВЛЕНО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4841" y="2155723"/>
            <a:ext cx="6237046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A6ADB6"/>
                </a:solidFill>
                <a:latin typeface="IBM Plex Mono SemiBold"/>
                <a:cs typeface="IBM Plex Mono SemiBold"/>
                <a:ea typeface="IBM Plex Mono SemiBold"/>
              </a:rPr>
              <a:t>ЧТО ОКАЗАЛОСЬ В КОДЕ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411348"/>
            <a:ext cx="10692079" cy="7315"/>
          </a:xfrm>
          <a:prstGeom prst="rect">
            <a:avLst/>
          </a:prstGeom>
          <a:solidFill>
            <a:srgbClr val="EEEBE5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540302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Пять типов заданий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4841" y="2540302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Работал один. У заданий не было пометки типа вовсе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850260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979214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Задание на сопоставление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4841" y="2979214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Уронило бы экран: нарушены правила хуков React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3289172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418126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Интервальное повторение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4841" y="3418126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Экран есть, алгоритма нет — прогонял пройденное подряд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728085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857038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Работа без интернета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4841" y="3857038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Шрифт грузился из сети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4166996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295950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Умная проверка ответа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04841" y="4295950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Строгое сравнение строк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460590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РЕШЕНИЕ 1 · ПРОВЕРКА ОТВЕТА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09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1509"/>
            <a:ext cx="10692079" cy="5885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64"/>
              </a:lnSpc>
            </a:pPr>
            <a:r>
              <a:rPr sz="3050" spc="-67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Проверка ответа в четыре слоя вместо сравнения строк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010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Сравнение строк отвечает только «совпало или нет». Живой учитель отвечает иначе: он видит, что именно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ученик сделал не так. Я собрал проверку, которая различает четыре случая.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28100"/>
            <a:ext cx="2522143" cy="19342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28100"/>
            <a:ext cx="32004" cy="1934210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ВЕРНО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Точное совпадение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166046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Ответ засчитан полностью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3119" y="2328100"/>
            <a:ext cx="2522143" cy="19342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3119" y="2328100"/>
            <a:ext cx="32004" cy="193421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9151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ГРАММАТИКА ВЕРНА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9151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Свёртка букв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9151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3367" y="316604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«китап» вместо «кітап» —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засчитано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622230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622230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Показывается правильное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написание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6431" y="2328100"/>
            <a:ext cx="2522143" cy="19342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6431" y="2328100"/>
            <a:ext cx="32004" cy="1934210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2463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ПОЧТИ ВЕРНО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2463" y="2803923"/>
            <a:ext cx="2010079" cy="4905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Одна лишняя или</a:t>
            </a:r>
          </a:p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потерянная буква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336873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56679" y="336873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Только описка, но не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подмена буквы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19743" y="2328100"/>
            <a:ext cx="2522143" cy="19342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19743" y="2328100"/>
            <a:ext cx="32004" cy="1934210"/>
          </a:xfrm>
          <a:prstGeom prst="rect">
            <a:avLst/>
          </a:prstGeom>
          <a:solidFill>
            <a:srgbClr val="BA1D27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75775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BA1D27"/>
                </a:solidFill>
                <a:latin typeface="IBM Plex Mono SemiBold"/>
                <a:cs typeface="IBM Plex Mono SemiBold"/>
                <a:ea typeface="IBM Plex Mono SemiBold"/>
              </a:rPr>
              <a:t>НЕ СОВПАЛО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75775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Другая форма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5775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9991" y="3166046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Показан верный ответ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5775" y="3444430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9991" y="3444430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Задание уходит в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повторение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8" y="4609782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4127" y="4808867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Плюс экранный ряд ә ғ қ ң ө ұ ү һ і под каждым полем ввода: нажал — буква вставилась.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6431" y="2937764"/>
            <a:ext cx="5245455" cy="202133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937764"/>
            <a:ext cx="5245455" cy="2737103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РЕШЕНИЕ 1 · ТОНКОЕ МЕСТО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10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Почему допуск на опечатку в казахском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работает не так, как в русском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Обычные тренажёры прощают одну-две ошибки в букве. В казахском это ломает проверку: грамматика живёт в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окончании, и одна буква — это другое лицо.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57219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оқимын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79368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я читаю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946651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оқисың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4368799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ты читаешь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4758435"/>
            <a:ext cx="4696815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Формы различаются одной буквой: «м» против «с». Ровно столько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же, сколько у обычной описки — отличить их по расстоянию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нельзя.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0751" y="3189732"/>
            <a:ext cx="4696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ПРАВИЛО, КОТОРОЕ Я ВЫВЕЛ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751" y="3469640"/>
            <a:ext cx="4696815" cy="12910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Описка теряет или добавляет букву.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Смена формы подменяет её. Поэтому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допуск работает только при разной длине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ответа — и не больше чем на один символ.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РЕШЕНИЕ 2 · МОРФОЛОГИЯ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11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23468"/>
            <a:ext cx="10692079" cy="4824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75"/>
              </a:lnSpc>
            </a:pPr>
            <a:r>
              <a:rPr sz="2500" spc="-5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Окончания приложение считает по правилам, а не берёт из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26342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Ученик подставляет любое своё слово и видит все его формы: окончание подсвечено, рядом сказано,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почему выбрано именно оно.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52192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30373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330373"/>
            <a:ext cx="656976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Сингармонизм.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Ряд гласного в окончании берётся от основы слова, а не от последней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буквы.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922193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2922193"/>
            <a:ext cx="656976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Озвончение.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«кітап» + «ым» даёт «кітабым»: қ, к, п перед гласным окончанием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озвончаются.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514013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514013"/>
            <a:ext cx="656976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Последний звук.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После р, й, у ставится -лар/-лер, после л, м, н, ң — -дар/-дер.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1972" y="2303348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1972" y="2803524"/>
            <a:ext cx="100919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СЕПТІК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1972" y="3044337"/>
            <a:ext cx="1009192" cy="4146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падежей в</a:t>
            </a:r>
          </a:p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казахском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2333" y="2303348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2333" y="2803524"/>
            <a:ext cx="1009192" cy="368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ТЕСТ НА</a:t>
            </a:r>
          </a:p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ПРАВИЛАХ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2333" y="3196737"/>
            <a:ext cx="1009192" cy="4146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 учебниковых</a:t>
            </a:r>
          </a:p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формах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32694" y="2303348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174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32694" y="2803524"/>
            <a:ext cx="1009192" cy="368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СЛОВА В</a:t>
            </a:r>
          </a:p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СЛОВАРЕ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32694" y="3196737"/>
            <a:ext cx="1009192" cy="4146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 любое своё</a:t>
            </a:r>
          </a:p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сверх того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226687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7" y="4425772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Правила покрыты автотестами на учебниковых формах: сломать их незаметно нельзя — сборка не пройдёт.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РЕШЕНИЕ 3 · СОДЕРЖАНИЕ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2596"/>
            <a:ext cx="10692079" cy="5788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10"/>
              </a:lnSpc>
            </a:pPr>
            <a:r>
              <a:rPr sz="3000" spc="-66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Курс начинался с уровня 8–11 класса. Я достроил начало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94287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Первым заданием было «Мен қазір кітап оқып жатырмын». Пятикласснику не за что зацепиться: ни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приветствия, ни счёта, ни семьи, ни школы.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358288"/>
            <a:ext cx="2138415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УРОВЕНЬ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8223" y="2358288"/>
            <a:ext cx="1247409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КЛАСС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5633" y="2358288"/>
            <a:ext cx="1069207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УРОКОВ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04840" y="2358288"/>
            <a:ext cx="6237046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О ЧЁМ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613913"/>
            <a:ext cx="10692079" cy="7315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733723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Начало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8223" y="2733723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5–7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5633" y="2733723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4840" y="2733723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Первые слова, счёт, семья, школа, база грамматики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034537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154347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Уверенный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8223" y="3154347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7–9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33" y="3154347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4840" y="3154347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Септіктер и времена глагола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3455161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574971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Свободный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8223" y="3574971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9–11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5633" y="3574971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4840" y="3574971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Наклонения, залоги, сложная речь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9808" y="3875786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182617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СЕМЬ ТИПОВ ЗАДАНИЙ ВМЕСТО ОДНОГО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455414"/>
            <a:ext cx="10692079" cy="5378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sz="12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Пропуск в предложении · выбор из четырёх · сборка предложения · сопоставление форм · перевод · свободный ввод · развёрнутый ответ с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самопроверкой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Восемь новых уроков написаны мной и до защиты проверяются учителем казахского языка — они отдельно помечены в проекте и выгружены на сверку.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РЕШЕНИЕ 4 · УДЕРЖАНИЕ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21293"/>
            <a:ext cx="10692079" cy="501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82"/>
              </a:lnSpc>
            </a:pPr>
            <a:r>
              <a:rPr sz="2600" spc="-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Повторение приходит тогда, когда материал начинает забываться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3993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Каждое задание становится карточкой. Ответил верно — приложение вернёт её через день, потом через три,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дальше реже. Ошибся — вернёт сегодня же.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84070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Учиться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20086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Дорожка уроков: видно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пройденное и следующий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шаг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Практика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720086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Цель на день, повторение,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карточки слов, спринт на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Словарь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720086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174 слова из уроков, поиск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работает с русской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раскладки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Справка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720086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правила, 22 темы и живые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таблицы окончаний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720086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настройки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выгрузка результатов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таблицей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760978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3960063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Разбор ошибок в конце урока не начисляет очки намеренно: он нужен, чтобы разобраться, а не чтобы набрать XP.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ДЕМОНСТРАЦИЯ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2157"/>
            <a:ext cx="10692079" cy="849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708"/>
              </a:lnSpc>
            </a:pPr>
            <a:r>
              <a:rPr sz="4400" spc="-97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Как это выглядит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84533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Урок идёт в четыре шага. Каждый шаг — одна мысль, а не страница текста.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8683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82266"/>
            <a:ext cx="2508427" cy="27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Диалог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4023" y="3402075"/>
            <a:ext cx="2304211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Живая реплика на казахском,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перевод под ней. Каждый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собеседник со своим портретом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7691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691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91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Правило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7691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7691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1907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Одно правило и совет учителя.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Больше одного за раз не даётся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5575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5575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5575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Задание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5575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5575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791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Один из семи типов, подсказка по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запросу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33459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33459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33459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Разбор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33459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33459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7675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Что не получилось — и повторный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проход по ошибкам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4384547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7" y="4583633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Показать вживую: открыть приложение на телефоне и пройти одно задание.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ПРИЛОЖЕНИЕ НА ТЕЛЕФОНЕ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8464"/>
            <a:ext cx="10692079" cy="7043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6"/>
              </a:lnSpc>
            </a:pPr>
            <a:r>
              <a:rPr sz="3650" spc="-8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Ставится на телефон и работает без интернета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82615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Приложение открывается с домашнего экрана как обычное. Отдельно собирается файл установки для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Android — на случай, если его попросят.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427922"/>
            <a:ext cx="5236311" cy="1155446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662618"/>
            <a:ext cx="4724247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ИЗ БРАУЗЕРА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90488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406" y="2904883"/>
            <a:ext cx="4513681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меню → «Установить приложение». iPhone: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«Поделиться» → «На экран Домой»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5575" y="2427922"/>
            <a:ext cx="5236311" cy="1155446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2662618"/>
            <a:ext cx="4724247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ФАЙЛОМ APK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90488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2173" y="2904883"/>
            <a:ext cx="4513681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Собирается автоматически. Готовый файл — в разделе Releases: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github.com/s-chaikovskiy/grammarquest-web/releases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985704"/>
            <a:ext cx="1225296" cy="12252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9808" y="5311584"/>
            <a:ext cx="1682496" cy="4149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Открыть приложение:</a:t>
            </a:r>
          </a:p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tilashar-kz.vercel.app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3976844"/>
            <a:ext cx="2783738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199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4505896"/>
            <a:ext cx="2783738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2032" y="4746708"/>
            <a:ext cx="2783738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код и стили в сжатом виде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00090" y="3976844"/>
            <a:ext cx="2783738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00090" y="4505896"/>
            <a:ext cx="2783738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ЗАПРОСОВ В СЕТЬ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00090" y="4746708"/>
            <a:ext cx="2783738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после первой загрузки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8148" y="3976844"/>
            <a:ext cx="2783738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589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58148" y="4505896"/>
            <a:ext cx="2783738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ФРАЗ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8148" y="4746708"/>
            <a:ext cx="2783738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готовы к озвучке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6153200"/>
            <a:ext cx="10692079" cy="3565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Приложение целиком, вместе со шрифтом и изображениями, занимает около 1,4 МБ. Оно скачивается один раз и дальше работает без интернета — проверено: в сеть не уходит ни одного</a:t>
            </a:r>
          </a:p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запроса.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6431" y="2448306"/>
            <a:ext cx="5245455" cy="2361183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6431" y="2448306"/>
            <a:ext cx="32004" cy="2361183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448306"/>
            <a:ext cx="5245455" cy="2428747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448306"/>
            <a:ext cx="32004" cy="24287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КАК Я ЭТО ДЕЛАЛ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7332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Что я делал сам, а что доверил проверке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2999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Код я писал с помощью нейросети — и именно поэтому проверял каждое её утверждение. Прежняя версия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показала, чем кончается доверие без проверки.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00274"/>
            <a:ext cx="473339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МОЯ РАБОТА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139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406" y="3013913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Поставил вопрос и гипотезу, выбрал что измерять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3750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406" y="3337509"/>
            <a:ext cx="4522825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Нашёл причины: раскладка, шрифты, несуществующие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возможности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5668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406" y="3856685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Вывел правило допуска описок из свойств казахского языка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18028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406" y="4180281"/>
            <a:ext cx="4522825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Собрал содержание базового курса и отдал его на проверку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учителю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2463" y="2700274"/>
            <a:ext cx="473339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ЧТО ПРОВЕРЯЕТ САМО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463" y="30139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3029" y="3013913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70 автотестов на каждом изменении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2463" y="333750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3029" y="3337509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28 проверок контраста палитры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2463" y="366110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3029" y="3661105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Проверка формулировок заданий при сборке содержания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398470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3029" y="3984701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Проверка вёрстки этой презентации при пересборке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430829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63029" y="4308297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Сверка каждого числа доклада с данными проекта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АПРОБАЦИЯ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Как я собираюсь измерить результат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Настоящих данных пока нет, и придумывать их я не буду. Вместо процентов показываю план эксперимента и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инструмент, который уже встроен в приложение.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74316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45054"/>
            <a:ext cx="2508427" cy="491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Один класс, 5–7 параллель, 15–20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человек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7691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СКОЛЬКО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7691" y="2845054"/>
            <a:ext cx="2508427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Пять учебных дней по 10–15 минут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5575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ЧТО ИЗМЕРЯЮ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5575" y="2845054"/>
            <a:ext cx="2508427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Доля верных ответов, время на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ответ, сколько заданий доходят до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конца урока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33459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ЧЕМ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459" y="2845054"/>
            <a:ext cx="2508427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Приложение ведёт журнал ответов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и выгружает таблицу — считать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вручную ничего не нужно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94436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14345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Личные данные не собираются: в журнале только метка участника, без имени.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04202" y="1960626"/>
            <a:ext cx="4337684" cy="2651759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960626"/>
            <a:ext cx="6153226" cy="2440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6505"/>
            <a:ext cx="10692079" cy="8104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94"/>
              </a:lnSpc>
            </a:pPr>
            <a:r>
              <a:rPr sz="4200" spc="-9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Что подтвердилось и что дальше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7" y="221259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ВЫВОД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488438"/>
            <a:ext cx="5604586" cy="1720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Гипотеза подтвердилась: главным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препятствием оказалась не сложность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казахского языка, а технические барьеры.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Их удалось снять, и ни один из них не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потребовал упрощать сам язык.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8522" y="221259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ЧТО ДАЛЬШЕ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25262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088" y="252623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Проверка базового курса учителем казахского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языка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305455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305455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Апробация на классе и настоящие числа вместо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плана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358287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358287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Озвучка: 589 фраз, каждая со своим голосом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39156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391561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Открытый доступ: приложение бесплатное и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работает по ссылке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TILASHAR-KZ.VERCEL.APP  ·  ФАМИЛИЯ ИМЯ · __ КЛАСС · ШКОЛА №__, Г. ____ · НАУЧНЫЙ РУКОВОДИТЕЛЬ: ____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