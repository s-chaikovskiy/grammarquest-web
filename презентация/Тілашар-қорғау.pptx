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Здравствуйте. Меня зовут Малышко Макар, я учусь в 6 «б» классе школы №35.</a:t>
            </a:r>
          </a:p>
          <a:p/>
          <a:p>
            <a:r>
              <a:t>Я прошёл краткий курс по искусственному интеллекту и сделал приложение</a:t>
            </a:r>
          </a:p>
          <a:p>
            <a:r>
              <a:t>для изучения грамматики казахского языка — «Тілашар».</a:t>
            </a:r>
          </a:p>
          <a:p/>
          <a:p>
            <a:r>
              <a:t>Эта версия сделана по заданию моего учителя казахского языка: она дала</a:t>
            </a:r>
          </a:p>
          <a:p>
            <a:r>
              <a:t>темы и образец заданий — сначала диалог, потом правило, потом задание.</a:t>
            </a:r>
          </a:p>
          <a:p/>
          <a:p>
            <a:r>
              <a:t>Доклад займёт около семи минут. Расскажу: как я его сделал, зачем оно</a:t>
            </a:r>
          </a:p>
          <a:p>
            <a:r>
              <a:t>нужно, что внутри и что я хочу делать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важно сказать своими словами и спокойно.</a:t>
            </a:r>
          </a:p>
          <a:p/>
          <a:p>
            <a:r>
              <a:t>Курс по искусственному интеллекту дал главное: как правильно поставить</a:t>
            </a:r>
          </a:p>
          <a:p>
            <a:r>
              <a:t>задачу нейросети и как проверить то, что она сделала. Код помогала писать</a:t>
            </a:r>
          </a:p>
          <a:p>
            <a:r>
              <a:t>нейросеть — но что именно делать, зачем и правильно ли получилось, решал я.</a:t>
            </a:r>
          </a:p>
          <a:p/>
          <a:p>
            <a:r>
              <a:t>Если спросят «а что здесь твоего?» — отвечать так же прямо: замысел,</a:t>
            </a:r>
          </a:p>
          <a:p>
            <a:r>
              <a:t>проверка и все решения. Тексты пяти заданий написала учитель, остальные</a:t>
            </a:r>
          </a:p>
          <a:p>
            <a:r>
              <a:t>десять составлены по её образцу и сверены с учебником.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говорить «учебник плохой». Говорить: учебник и учитель дают правило,</a:t>
            </a:r>
          </a:p>
          <a:p>
            <a:r>
              <a:t>а приложение помогает закрепить его сразу, пока тема свежая.</a:t>
            </a:r>
          </a:p>
          <a:p/>
          <a:p>
            <a:r>
              <a:t>Главная мысль слайда: приложение не заменяет учителя. Оно повторяет его</a:t>
            </a:r>
          </a:p>
          <a:p>
            <a:r>
              <a:t>тему и его порядок урока — диалог, правило, задание.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 на этом слайде — порядок: диалог, правило, задание. Он такой же,</a:t>
            </a:r>
          </a:p>
          <a:p>
            <a:r>
              <a:t>как в первой версии, которая победила на школьной олимпиаде.</a:t>
            </a:r>
          </a:p>
          <a:p/>
          <a:p>
            <a:r>
              <a:t>Про цифры внизу. Пять заданий написала учитель, я перенёс их дословно.</a:t>
            </a:r>
          </a:p>
          <a:p>
            <a:r>
              <a:t>При сверке с учебником в них нашлось девять мест, которые нужно было</a:t>
            </a:r>
          </a:p>
          <a:p>
            <a:r>
              <a:t>поправить, — каждое исправление записано вместе с источником и отправлено</a:t>
            </a:r>
          </a:p>
          <a:p>
            <a:r>
              <a:t>учителю. Ещё десять заданий по остальным темам составлены по её образцу.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Самый частый вопрос жюри: «что здесь сделал ты, а что нейросеть?».</a:t>
            </a:r>
          </a:p>
          <a:p>
            <a:r>
              <a:t>Отвечать спокойно и честно.</a:t>
            </a:r>
          </a:p>
          <a:p/>
          <a:p>
            <a:r>
              <a:t>Код помогала писать нейросеть. Моя работа — поставить задачу, проверить</a:t>
            </a:r>
          </a:p>
          <a:p>
            <a:r>
              <a:t>результат и найти причину, если что-то не работает. Поэтому приложение</a:t>
            </a:r>
          </a:p>
          <a:p>
            <a:r>
              <a:t>проверяет себя само при каждом изменении — в том числе сверяет текст</a:t>
            </a:r>
          </a:p>
          <a:p>
            <a:r>
              <a:t>учителя с её документом слово в слово, чтобы ничего не исказилось.</a:t>
            </a:r>
          </a:p>
          <a:p/>
          <a:p>
            <a:r>
              <a:t>Про деньги: все сервисы бесплатные. Значит, повторить может любой школьник.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ядро доклада. Не читать по пунктам — рассказать про второй и третий,</a:t>
            </a:r>
          </a:p>
          <a:p>
            <a:r>
              <a:t>остальные видны на слайде.</a:t>
            </a:r>
          </a:p>
          <a:p/>
          <a:p>
            <a:r>
              <a:t>Про второй: учитель просила, чтобы персонаж двигался или говорил. Теперь</a:t>
            </a:r>
          </a:p>
          <a:p>
            <a:r>
              <a:t>Айша и учитель произносят каждую реплику казахским голосом, а пока голос</a:t>
            </a:r>
          </a:p>
          <a:p>
            <a:r>
              <a:t>звучит, персонаж покачивается.</a:t>
            </a:r>
          </a:p>
          <a:p/>
          <a:p>
            <a:r>
              <a:t>Про третий: в задании, где нужно отметить несколько ответов, нельзя</a:t>
            </a:r>
          </a:p>
          <a:p>
            <a:r>
              <a:t>просто нажать всё подряд. Засчитывается только точный набор: пропустил</a:t>
            </a:r>
          </a:p>
          <a:p>
            <a:r>
              <a:t>верный вариант или отметил лишний — ошибка.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Живую демонстрацию готовить заранее: открыть приложение до выступления,</a:t>
            </a:r>
          </a:p>
          <a:p>
            <a:r>
              <a:t>проверить звук, проверить, что телефон заряжен.</a:t>
            </a:r>
          </a:p>
          <a:p/>
          <a:p>
            <a:r>
              <a:t>Что показать за минуту:</a:t>
            </a:r>
          </a:p>
          <a:p>
            <a:r>
              <a:t>1. Список тем — они в том порядке, в каком их дала учитель.</a:t>
            </a:r>
          </a:p>
          <a:p>
            <a:r>
              <a:t>2. Открыть «Сын есім», нажать «послушать» у реплики Айши и учителя.</a:t>
            </a:r>
          </a:p>
          <a:p>
            <a:r>
              <a:t>3. Перейти к правилу, потом к заданию, выбрать ответ «сары».</a:t>
            </a:r>
          </a:p>
          <a:p>
            <a:r>
              <a:t>4. Во втором задании отметить «үлкен» и «биік» и нажать «Тексеру».</a:t>
            </a:r>
          </a:p>
          <a:p>
            <a:r>
              <a:t>5. Нажать «Рус» — показать, что под казахским текстом появился перевод.</a:t>
            </a:r>
          </a:p>
          <a:p/>
          <a:p>
            <a:r>
              <a:t>Запасной вариант, если проектор не покажет телефон: ролик из комплекта.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Финал. Не читать по бумажке — сказать своими словами.</a:t>
            </a:r>
          </a:p>
          <a:p/>
          <a:p>
            <a:r>
              <a:t>Порядок такой. Сначала коротко, что уже сделано. Потом — куда это может</a:t>
            </a:r>
          </a:p>
          <a:p>
            <a:r>
              <a:t>вырасти. И в конце прямая просьба: дайте классы для апробации и методистов.</a:t>
            </a:r>
          </a:p>
          <a:p/>
          <a:p>
            <a:r>
              <a:t>Главная мысль на прощание: учитель даёт тему, а приложение помогает</a:t>
            </a:r>
          </a:p>
          <a:p>
            <a:r>
              <a:t>закрепить её сразу — дома, в дороге, без интернета.</a:t>
            </a:r>
          </a:p>
          <a:p/>
          <a:p>
            <a:r>
              <a:t>ПЕРЕД ЗАЩИТОЙ ОБЯЗАТЕЛЬНО</a:t>
            </a:r>
          </a:p>
          <a:p/>
          <a:p>
            <a:r>
              <a:t>Строка «уже сделано» должна быть правдой, её проверят вопросом.</a:t>
            </a:r>
          </a:p>
          <a:p>
            <a:r>
              <a:t>Когда учитель посмотрит тексты, вписать её ФИО в тексты.py</a:t>
            </a:r>
          </a:p>
          <a:p>
            <a:r>
              <a:t>(TEACHER_RU / TEACHER_KZ). Раздать ссылку одноклассникам и вписать</a:t>
            </a:r>
          </a:p>
          <a:p>
            <a:r>
              <a:t>их число (TESTERS) — живое число убеждает сильнее слов.</a:t>
            </a:r>
          </a:p>
          <a:p/>
          <a:p>
            <a:r>
              <a:t>ЧАСТЫЕ ВОПРОСЫ ЖЮРИ</a:t>
            </a:r>
          </a:p>
          <a:p/>
          <a:p>
            <a:r>
              <a:t>1. «Что здесь сделал ты, а что нейросеть?»</a:t>
            </a:r>
          </a:p>
          <a:p>
            <a:r>
              <a:t>   Нейросеть писала код. Я ставил задачу, проверял результат и решал,</a:t>
            </a:r>
          </a:p>
          <a:p>
            <a:r>
              <a:t>   что оставить, а что убрать.</a:t>
            </a:r>
          </a:p>
          <a:p/>
          <a:p>
            <a:r>
              <a:t>2. «Кто проверял казахский текст?»</a:t>
            </a:r>
          </a:p>
          <a:p>
            <a:r>
              <a:t>   Пять заданий написала учитель. Остальные составлены по её образцу,</a:t>
            </a:r>
          </a:p>
          <a:p>
            <a:r>
              <a:t>   сверены с учебником «Бәйшешек» и отправлены ей на проверку.</a:t>
            </a:r>
          </a:p>
          <a:p/>
          <a:p>
            <a:r>
              <a:t>3. «Откуда картинки?»</a:t>
            </a:r>
          </a:p>
          <a:p>
            <a:r>
              <a:t>   Персонажи нарисованы нейросетью специально для приложения.</a:t>
            </a:r>
          </a:p>
          <a:p/>
          <a:p>
            <a:r>
              <a:t>4. «Почему всего семь тем?»</a:t>
            </a:r>
          </a:p>
          <a:p>
            <a:r>
              <a:t>   Это темы, которые дала учитель. Добавить новую тему просто —</a:t>
            </a:r>
          </a:p>
          <a:p>
            <a:r>
              <a:t>   это первый пункт плана развития.</a:t>
            </a:r>
          </a:p>
          <a:p/>
          <a:p>
            <a:r>
              <a:t>5. «Работает без интернета?»</a:t>
            </a:r>
          </a:p>
          <a:p>
            <a:r>
              <a:t>   Да. Можно включить на телефоне режим полёта и показать.</a:t>
            </a:r>
          </a:p>
          <a:p/>
          <a:p>
            <a:r>
              <a:t>6. «Сколько времени это заняло?»</a:t>
            </a:r>
          </a:p>
          <a:p>
            <a:r>
              <a:t>   Отвечать честно своими словами: сколько ушло на самом деле.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1598010"/>
            <a:ext cx="18288" cy="35880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0808" y="1619348"/>
            <a:ext cx="18288" cy="33746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1809" y="1594436"/>
            <a:ext cx="18288" cy="36237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2809" y="1608191"/>
            <a:ext cx="18288" cy="34862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3810" y="1529369"/>
            <a:ext cx="18288" cy="42744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4811" y="1418028"/>
            <a:ext cx="18288" cy="53878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5811" y="1364082"/>
            <a:ext cx="18288" cy="59273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812" y="1420124"/>
            <a:ext cx="18288" cy="5366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97812" y="1330953"/>
            <a:ext cx="18288" cy="62586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78813" y="1294751"/>
            <a:ext cx="18288" cy="66206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59814" y="1434151"/>
            <a:ext cx="18288" cy="52266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0814" y="1464060"/>
            <a:ext cx="18288" cy="49275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21815" y="1384227"/>
            <a:ext cx="18288" cy="57258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02815" y="1452109"/>
            <a:ext cx="18288" cy="50470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83816" y="1373048"/>
            <a:ext cx="18288" cy="58376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64817" y="1211104"/>
            <a:ext cx="18288" cy="74571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45817" y="1350682"/>
            <a:ext cx="18288" cy="60613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26818" y="1497221"/>
            <a:ext cx="18288" cy="45959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07818" y="1314420"/>
            <a:ext cx="18288" cy="64239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8819" y="1521899"/>
            <a:ext cx="18288" cy="43491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69820" y="1362324"/>
            <a:ext cx="18288" cy="5944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50820" y="1588192"/>
            <a:ext cx="18288" cy="36862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31821" y="1402593"/>
            <a:ext cx="18288" cy="55422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12821" y="1608379"/>
            <a:ext cx="18288" cy="34843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93822" y="1730438"/>
            <a:ext cx="18288" cy="22637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74822" y="1493390"/>
            <a:ext cx="18288" cy="46342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55823" y="1699963"/>
            <a:ext cx="18288" cy="25685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36824" y="1696659"/>
            <a:ext cx="18288" cy="26015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17824" y="1730617"/>
            <a:ext cx="18288" cy="22619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98825" y="1510085"/>
            <a:ext cx="18288" cy="44673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79826" y="1813300"/>
            <a:ext cx="18288" cy="14351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60826" y="1569376"/>
            <a:ext cx="18288" cy="38743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41827" y="1794924"/>
            <a:ext cx="18288" cy="1618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22827" y="1658064"/>
            <a:ext cx="18288" cy="29875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03828" y="1468577"/>
            <a:ext cx="18288" cy="48823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84829" y="1461255"/>
            <a:ext cx="18288" cy="49556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65829" y="1709298"/>
            <a:ext cx="18288" cy="24751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46830" y="1355960"/>
            <a:ext cx="18288" cy="60085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27830" y="1544210"/>
            <a:ext cx="18288" cy="41260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08831" y="1401750"/>
            <a:ext cx="18288" cy="55506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89832" y="1456169"/>
            <a:ext cx="18288" cy="50064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70832" y="1567346"/>
            <a:ext cx="18288" cy="38946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51833" y="1530165"/>
            <a:ext cx="18288" cy="4266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32833" y="1502882"/>
            <a:ext cx="18288" cy="45393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13834" y="1310327"/>
            <a:ext cx="18288" cy="64648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94835" y="1262769"/>
            <a:ext cx="18288" cy="69404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75835" y="1090870"/>
            <a:ext cx="18288" cy="86594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56836" y="1263430"/>
            <a:ext cx="18288" cy="69338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37836" y="1400128"/>
            <a:ext cx="18288" cy="55668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718837" y="1297107"/>
            <a:ext cx="18288" cy="65970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99838" y="1243918"/>
            <a:ext cx="18288" cy="71289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80838" y="1323396"/>
            <a:ext cx="18288" cy="63341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61839" y="1415333"/>
            <a:ext cx="18288" cy="54148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42839" y="1463824"/>
            <a:ext cx="18288" cy="4929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23840" y="1341278"/>
            <a:ext cx="18288" cy="61553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04841" y="1286603"/>
            <a:ext cx="18288" cy="67021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5841" y="1483721"/>
            <a:ext cx="18288" cy="47309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6842" y="1304075"/>
            <a:ext cx="18288" cy="65274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7842" y="1399302"/>
            <a:ext cx="18288" cy="55751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28843" y="1728712"/>
            <a:ext cx="18288" cy="22810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609844" y="1493407"/>
            <a:ext cx="18288" cy="46340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90844" y="1744130"/>
            <a:ext cx="18288" cy="21268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71845" y="1748236"/>
            <a:ext cx="18288" cy="20857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52845" y="1829390"/>
            <a:ext cx="18288" cy="12742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933846" y="1885589"/>
            <a:ext cx="18288" cy="7122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014847" y="1910730"/>
            <a:ext cx="18288" cy="4608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95847" y="1818427"/>
            <a:ext cx="18288" cy="13838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6848" y="1720456"/>
            <a:ext cx="18288" cy="23635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57848" y="1910730"/>
            <a:ext cx="18288" cy="4608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38849" y="1692656"/>
            <a:ext cx="18288" cy="26415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419850" y="1850924"/>
            <a:ext cx="18288" cy="1058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500850" y="1676557"/>
            <a:ext cx="18288" cy="28025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81851" y="1739854"/>
            <a:ext cx="18288" cy="21696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662851" y="1701269"/>
            <a:ext cx="18288" cy="25554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43852" y="1744357"/>
            <a:ext cx="18288" cy="21245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824853" y="1759407"/>
            <a:ext cx="18288" cy="19740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905853" y="1844397"/>
            <a:ext cx="18288" cy="11241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86854" y="1672198"/>
            <a:ext cx="18288" cy="28461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067854" y="1627592"/>
            <a:ext cx="18288" cy="329223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148855" y="1465395"/>
            <a:ext cx="18288" cy="49142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229856" y="1707900"/>
            <a:ext cx="18288" cy="248915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10856" y="1606069"/>
            <a:ext cx="18288" cy="350746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91857" y="1450799"/>
            <a:ext cx="18288" cy="506016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72857" y="1544475"/>
            <a:ext cx="18288" cy="41234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53858" y="1443775"/>
            <a:ext cx="18288" cy="51304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34859" y="1453188"/>
            <a:ext cx="18288" cy="50362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15859" y="1481791"/>
            <a:ext cx="18288" cy="475024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796860" y="1396709"/>
            <a:ext cx="18288" cy="560106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877860" y="1286242"/>
            <a:ext cx="18288" cy="670573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958861" y="1317274"/>
            <a:ext cx="18288" cy="639541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39862" y="1413375"/>
            <a:ext cx="18288" cy="54344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20862" y="1486655"/>
            <a:ext cx="18288" cy="47016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01863" y="1329392"/>
            <a:ext cx="18288" cy="627423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282863" y="1565288"/>
            <a:ext cx="18288" cy="39152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63864" y="1408519"/>
            <a:ext cx="18288" cy="548296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44865" y="1638681"/>
            <a:ext cx="18288" cy="318134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25865" y="1560024"/>
            <a:ext cx="18288" cy="3967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06866" y="1618064"/>
            <a:ext cx="18288" cy="33875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7866" y="1541446"/>
            <a:ext cx="18288" cy="41536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8867" y="1541226"/>
            <a:ext cx="18288" cy="41558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49868" y="1755948"/>
            <a:ext cx="18288" cy="20086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30868" y="1742738"/>
            <a:ext cx="18288" cy="21407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011869" y="1723544"/>
            <a:ext cx="18288" cy="23327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92869" y="1723236"/>
            <a:ext cx="18288" cy="23357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73870" y="1784781"/>
            <a:ext cx="18288" cy="17203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54871" y="1660919"/>
            <a:ext cx="18288" cy="29589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335871" y="1796724"/>
            <a:ext cx="18288" cy="1600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416872" y="1727960"/>
            <a:ext cx="18288" cy="22885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97872" y="1796204"/>
            <a:ext cx="18288" cy="16061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78873" y="1686278"/>
            <a:ext cx="18288" cy="27053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59874" y="1852556"/>
            <a:ext cx="18288" cy="10425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740874" y="1845226"/>
            <a:ext cx="18288" cy="11158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821875" y="1831868"/>
            <a:ext cx="18288" cy="12494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902875" y="1806327"/>
            <a:ext cx="18288" cy="15048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983876" y="1700270"/>
            <a:ext cx="18288" cy="25654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064877" y="1661485"/>
            <a:ext cx="18288" cy="29533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145877" y="1769816"/>
            <a:ext cx="18288" cy="18699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226878" y="1761057"/>
            <a:ext cx="18288" cy="19575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307878" y="1729692"/>
            <a:ext cx="18288" cy="22712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388879" y="1628577"/>
            <a:ext cx="18288" cy="32823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469880" y="1740249"/>
            <a:ext cx="18288" cy="21656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550880" y="1599449"/>
            <a:ext cx="18288" cy="35736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631881" y="1617542"/>
            <a:ext cx="18288" cy="33927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712881" y="1695899"/>
            <a:ext cx="18288" cy="26091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793882" y="1666652"/>
            <a:ext cx="18288" cy="29016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874883" y="1629378"/>
            <a:ext cx="18288" cy="32743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955883" y="1623677"/>
            <a:ext cx="18288" cy="33313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036884" y="1658465"/>
            <a:ext cx="18288" cy="298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117884" y="1602222"/>
            <a:ext cx="18288" cy="35459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1198885" y="1703548"/>
            <a:ext cx="18288" cy="25326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279886" y="1652170"/>
            <a:ext cx="18288" cy="30464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360886" y="1660421"/>
            <a:ext cx="18288" cy="29639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49808" y="1956816"/>
            <a:ext cx="10692079" cy="731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49808" y="2116328"/>
            <a:ext cx="10692079" cy="2073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50"/>
              </a:lnSpc>
            </a:pPr>
            <a:r>
              <a:rPr sz="900" spc="180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ҒЫЛЫМИ ЖОБА · ҚАЛАЛЫҚ ОЛИМПИАДА · 2026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49808" y="2499116"/>
            <a:ext cx="10692079" cy="10301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sz="5600" spc="-157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Тілашар —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49808" y="3250448"/>
            <a:ext cx="10692079" cy="800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sz="4350" spc="-1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қазақ тілі грамматикасы үш қадамда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9808" y="4135754"/>
            <a:ext cx="7484455" cy="9121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50">
                <a:solidFill>
                  <a:srgbClr val="B6BCC4"/>
                </a:solidFill>
                <a:latin typeface="GQ Text"/>
                <a:cs typeface="GQ Text"/>
                <a:ea typeface="GQ Text"/>
              </a:rPr>
              <a:t>Қазақ тілі мұғалімінің тапсырмасы бойынша жасалған қосымша: диалог,</a:t>
            </a:r>
          </a:p>
          <a:p>
            <a:pPr algn="l">
              <a:lnSpc>
                <a:spcPts val="2100"/>
              </a:lnSpc>
            </a:pPr>
            <a:r>
              <a:rPr sz="1450">
                <a:solidFill>
                  <a:srgbClr val="B6BCC4"/>
                </a:solidFill>
                <a:latin typeface="GQ Text"/>
                <a:cs typeface="GQ Text"/>
                <a:ea typeface="GQ Text"/>
              </a:rPr>
              <a:t>ереже, тапсырма. Орыс тілінде оқитын мектептердің оқушыларына</a:t>
            </a:r>
          </a:p>
          <a:p>
            <a:pPr algn="l">
              <a:lnSpc>
                <a:spcPts val="2100"/>
              </a:lnSpc>
            </a:pPr>
            <a:r>
              <a:rPr sz="1450">
                <a:solidFill>
                  <a:srgbClr val="B6BCC4"/>
                </a:solidFill>
                <a:latin typeface="GQ Text"/>
                <a:cs typeface="GQ Text"/>
                <a:ea typeface="GQ Text"/>
              </a:rPr>
              <a:t>арналған. Тегін, сілтеме арқылы ашылады.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49808" y="5230368"/>
            <a:ext cx="10692079" cy="731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49808" y="5444947"/>
            <a:ext cx="2439847" cy="530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3000" spc="-9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49808" y="5945123"/>
            <a:ext cx="2439847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ТАҚЫРЫП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500551" y="5444947"/>
            <a:ext cx="2439847" cy="530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3000" spc="-9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15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500551" y="5945123"/>
            <a:ext cx="2439847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ТАПСЫРМА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51295" y="5444947"/>
            <a:ext cx="2439847" cy="530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3000" spc="-9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47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251295" y="5945123"/>
            <a:ext cx="2439847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ДЫБЫС ЖАЗБАСЫ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002039" y="5444947"/>
            <a:ext cx="2439847" cy="530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3000" spc="-9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002039" y="5945123"/>
            <a:ext cx="2439847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ҚАДАМ ӘР ТАПСЫРМАДА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49808" y="6323584"/>
            <a:ext cx="10692079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85">
                <a:solidFill>
                  <a:srgbClr val="6B727B"/>
                </a:solidFill>
                <a:latin typeface="IBM Plex Mono Medium"/>
                <a:cs typeface="IBM Plex Mono Medium"/>
                <a:ea typeface="IBM Plex Mono Medium"/>
              </a:rPr>
              <a:t>МАЛЫШКО МАКАР ЕВГЕНЬЕВИЧ · 6 «Б» СЫНЫП · №35 МЕКТЕП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БҰЛ ҚАЛАЙ ПАЙДА БОЛДЫ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535C66"/>
                </a:solidFill>
                <a:latin typeface="IBM Plex Mono Medium"/>
                <a:cs typeface="IBM Plex Mono Medium"/>
                <a:ea typeface="IBM Plex Mono Medium"/>
              </a:rPr>
              <a:t>02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03899"/>
            <a:ext cx="10692079" cy="11181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38"/>
              </a:lnSpc>
            </a:pPr>
            <a:r>
              <a:rPr sz="3400" spc="-75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Жасанды интеллект бойынша қысқа курстан өттім</a:t>
            </a:r>
          </a:p>
          <a:p>
            <a:pPr algn="l">
              <a:lnSpc>
                <a:spcPts val="3638"/>
              </a:lnSpc>
            </a:pPr>
            <a:r>
              <a:rPr sz="3400" spc="-75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— және реферат емес, нақты қосымша жасадым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10669"/>
            <a:ext cx="9195188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Оқушы нейрожелінің көмегімен идеяны шынымен пайдаланылатын дайын бағдарламаға дейін жеткізе ала ма —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соны тексергім келді. Жеткізе екен.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837688"/>
            <a:ext cx="2522143" cy="2126488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837688"/>
            <a:ext cx="32004" cy="212648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72384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11194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Үйрендім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0112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0056" y="3690112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Жасанды интеллект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бойынша қысқа курс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46296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0056" y="4146296"/>
            <a:ext cx="1805863" cy="6080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Тапсырманы қалай қою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және жауапты қалай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тексеру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3119" y="2837688"/>
            <a:ext cx="2522143" cy="2126488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3119" y="2837688"/>
            <a:ext cx="32004" cy="2126488"/>
          </a:xfrm>
          <a:prstGeom prst="rect">
            <a:avLst/>
          </a:prstGeom>
          <a:solidFill>
            <a:srgbClr val="00793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9151" y="3072384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793D"/>
                </a:solidFill>
                <a:latin typeface="IBM Plex Mono SemiBold"/>
                <a:cs typeface="IBM Plex Mono SemiBold"/>
                <a:ea typeface="IBM Plex Mono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9151" y="3311194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Жасадым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9151" y="3690112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3367" y="3690112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Қосымша туралы баяндама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емес, қосымшаның өзі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9151" y="4146296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3367" y="4146296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7 тақырып және 15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тапсырма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6431" y="2837688"/>
            <a:ext cx="2522143" cy="2126488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6431" y="2837688"/>
            <a:ext cx="32004" cy="2126488"/>
          </a:xfrm>
          <a:prstGeom prst="rect">
            <a:avLst/>
          </a:prstGeom>
          <a:solidFill>
            <a:srgbClr val="7F5400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2463" y="3072384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7F5400"/>
                </a:solidFill>
                <a:latin typeface="IBM Plex Mono SemiBold"/>
                <a:cs typeface="IBM Plex Mono SemiBold"/>
                <a:ea typeface="IBM Plex Mono SemiBold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463" y="3311194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Тексердім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2463" y="3690112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679" y="3690112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Бірінші нұсқа мектеп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олимпиадасында жеңді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2463" y="4146296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679" y="4146296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Үшінші нұсқа — мұғалімнің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тапсырмасы бойынша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9743" y="2837688"/>
            <a:ext cx="2522143" cy="2126488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9743" y="2837688"/>
            <a:ext cx="32004" cy="212648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5775" y="3072384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5775" y="3311194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Аштым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5775" y="3690112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9991" y="3690112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Тегін және сілтеме арқылы,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орнатусыз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5775" y="4146296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9991" y="4146296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Телефонда да, компьютерде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де, интернетсіз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8" y="5348224"/>
            <a:ext cx="10692079" cy="71024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7" y="5547309"/>
            <a:ext cx="10143439" cy="3452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Қосымша дәл қазір жұмыс істеп тұр: сайт ашық, кез келген адам кіріп шұғылдана алады.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6431" y="2964688"/>
            <a:ext cx="5245455" cy="1234439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964688"/>
            <a:ext cx="5245455" cy="1272539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964688"/>
            <a:ext cx="32004" cy="1272539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НЕ ҮШІН ҚАЖЕТ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535C66"/>
                </a:solidFill>
                <a:latin typeface="IBM Plex Mono Medium"/>
                <a:cs typeface="IBM Plex Mono Medium"/>
                <a:ea typeface="IBM Plex Mono Medium"/>
              </a:rPr>
              <a:t>03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5202"/>
            <a:ext cx="10692079" cy="12496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Грамматиканы әр мектепте оқиды, ал</a:t>
            </a:r>
          </a:p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ережені бірден бекітетін орын жоқ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19381"/>
            <a:ext cx="9409029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Қазақ тілі — мемлекеттік тіл және елдегі барлық мектептің міндетті пәні, оның ішінде оқыту орыс тілінде жүретін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мектептерде де.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763520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4733391" cy="8252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3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Оқулықта ереже мысалдан бөлек тұрады, ал оқушы</a:t>
            </a:r>
          </a:p>
          <a:p>
            <a:pPr algn="l">
              <a:lnSpc>
                <a:spcPts val="1900"/>
              </a:lnSpc>
            </a:pPr>
            <a:r>
              <a:rPr sz="13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жауабының дұрыс-бұрыстығын мұғалім тексергенде</a:t>
            </a:r>
          </a:p>
          <a:p>
            <a:pPr algn="l">
              <a:lnSpc>
                <a:spcPts val="1900"/>
              </a:lnSpc>
            </a:pPr>
            <a:r>
              <a:rPr sz="13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ғана біледі. Келесі сабаққа дейін қате бекіп үлгереді.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2463" y="3202432"/>
            <a:ext cx="4733391" cy="7818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Қосымшада ереже бірден қысқа диалогта көрсетіледі, ал</a:t>
            </a:r>
          </a:p>
          <a:p>
            <a:pPr algn="l">
              <a:lnSpc>
                <a:spcPts val="1800"/>
              </a:lnSpc>
            </a:pPr>
            <a:r>
              <a:rPr sz="12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жауап сол сәтте тексеріледі: қате болса, оқушы дұрыс</a:t>
            </a:r>
          </a:p>
          <a:p>
            <a:pPr algn="l">
              <a:lnSpc>
                <a:spcPts val="1800"/>
              </a:lnSpc>
            </a:pPr>
            <a:r>
              <a:rPr sz="12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нұсқаны көреді.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285788"/>
            <a:ext cx="10692079" cy="2091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Тақырыптар мен сабақтың тәртібі — қазақ тілі мұғалімінің тапсырмасы бойынша. Ережелер 5 және 6-сыныпқа арналған «Бәйшешек» оқулығымен салыстырылды.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НЕ ЖАСАЛДЫ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04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0854"/>
            <a:ext cx="10692079" cy="7718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80"/>
              </a:lnSpc>
            </a:pPr>
            <a:r>
              <a:rPr sz="4000" spc="-88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Үш экран және мұғалімнің жеті тақырыбы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30177"/>
            <a:ext cx="9195188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Оқушы қосымшаны ашып, тақырыпты таңдайды да, оны қадам-қадаммен өтеді. Артық бөлім жоқ — тек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грамматика.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274316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48798"/>
            <a:ext cx="1962851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Бастапқы экран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10332"/>
            <a:ext cx="1962851" cy="6515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Айша мен мұғалім,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тапсырманың құрылымы,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тілді өзгерту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2115" y="2548798"/>
            <a:ext cx="1962851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Тақырыптар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2115" y="2910332"/>
            <a:ext cx="1962851" cy="6515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Мұғалімнің парақшасындағы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ретпен жеті тақырып,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өтілгені белгіленеді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4422" y="2548798"/>
            <a:ext cx="1962851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Диалог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4422" y="2910332"/>
            <a:ext cx="1962851" cy="6515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Тақырып бойынша қысқа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сөйлесу, әр реплика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дыбысталған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729" y="2548798"/>
            <a:ext cx="1962851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Ереже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729" y="2910332"/>
            <a:ext cx="1962851" cy="461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Оқулықпен салыстырылған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тақырып ережесі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79036" y="2548798"/>
            <a:ext cx="1962851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Тапсырма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9036" y="2910332"/>
            <a:ext cx="1962851" cy="6515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Жауапты таңдау, бірден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тексеру, тақырып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қорытындысы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932936"/>
            <a:ext cx="10692079" cy="71024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7" y="4132021"/>
            <a:ext cx="10143439" cy="3452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47 дыбыс жазбасы, сөйлейтін кейіпкерлер, түйме арқылы орысша аударма және интернетсіз жұмыс.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105829"/>
            <a:ext cx="2383219" cy="600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32"/>
              </a:lnSpc>
            </a:pPr>
            <a:r>
              <a:rPr sz="3400" spc="-10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663755"/>
            <a:ext cx="2383219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МҰҒАЛІМНІҢ ТАПСЫРМАСЫ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7347" y="5105829"/>
            <a:ext cx="2383219" cy="600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32"/>
              </a:lnSpc>
            </a:pPr>
            <a:r>
              <a:rPr sz="3400" spc="-10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7347" y="5663755"/>
            <a:ext cx="2383219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ОНЫҢ ҮЛГІСІМЕН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4886" y="5105829"/>
            <a:ext cx="2383219" cy="600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32"/>
              </a:lnSpc>
            </a:pPr>
            <a:r>
              <a:rPr sz="3400" spc="-10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64886" y="5663755"/>
            <a:ext cx="2383219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ДЕРЕККӨЗІ БАР ТҮЗЕТУ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04202" y="2259330"/>
            <a:ext cx="4337684" cy="2037587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04202" y="2259330"/>
            <a:ext cx="32004" cy="2037587"/>
          </a:xfrm>
          <a:prstGeom prst="rect">
            <a:avLst/>
          </a:prstGeom>
          <a:solidFill>
            <a:srgbClr val="00793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2259330"/>
            <a:ext cx="6153226" cy="2741421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2259330"/>
            <a:ext cx="32004" cy="2741421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ҚАЛАЙ ЖАСАЛДЫ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05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0854"/>
            <a:ext cx="10692079" cy="7718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80"/>
              </a:lnSpc>
            </a:pPr>
            <a:r>
              <a:rPr sz="4000" spc="-88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Қандай сервистермен жасалды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30177"/>
            <a:ext cx="9195188" cy="3329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Барлық құрал тегін және оқушыға қолжетімді. Бірде-бір сервис үшін ақы төлеуге тура келген жоқ.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7" y="2511298"/>
            <a:ext cx="5604586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НЕМЕН ЖАСАЛДЫ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7" y="2823514"/>
            <a:ext cx="216916" cy="2903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1044" y="2823514"/>
            <a:ext cx="5387670" cy="5111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Нейрожелі-көмекші. </a:t>
            </a: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 Код жазды — мен тапсырма қойып, нәтижені</a:t>
            </a:r>
          </a:p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тексердім.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378758"/>
            <a:ext cx="216916" cy="2903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1044" y="3378758"/>
            <a:ext cx="5387670" cy="5111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GitHub. </a:t>
            </a: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 Кодты және өзгерістер тарихын сақтайды, Android және</a:t>
            </a:r>
          </a:p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Windows нұсқалары да сонда жиналады.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7" y="3934002"/>
            <a:ext cx="216916" cy="2903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1044" y="3934002"/>
            <a:ext cx="5387670" cy="306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Vercel. </a:t>
            </a: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 Әр түзетуден кейін сайтты интернетте өзі жариялайды.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7" y="4284776"/>
            <a:ext cx="216916" cy="2903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1044" y="4284776"/>
            <a:ext cx="5387670" cy="5111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Capacitor және Electron. </a:t>
            </a: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 Сайтты телефонға және Windows-қа арналған</a:t>
            </a:r>
          </a:p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қосымшаға айналдырады.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8522" y="2511298"/>
            <a:ext cx="378904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48CD8C"/>
                </a:solidFill>
                <a:latin typeface="IBM Plex Mono SemiBold"/>
                <a:cs typeface="IBM Plex Mono SemiBold"/>
                <a:ea typeface="IBM Plex Mono SemiBold"/>
              </a:rPr>
              <a:t>НЕ ӨЗІ ТЕКСЕРІЛЕДІ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8522" y="2824937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48CD8C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088" y="2824937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Әр өзгерісте 7 автотест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8522" y="3148533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48CD8C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088" y="3148533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Түстер контрастына 36 тексеру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8522" y="3472129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48CD8C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088" y="3472129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Мұғалімнің мәтінін оның құжатымен салыстыру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8522" y="3795725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48CD8C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088" y="3795725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Баяндамадағы әр санды салыстыру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5147056"/>
            <a:ext cx="10692079" cy="71024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7" y="5346141"/>
            <a:ext cx="10143439" cy="3452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Код ашық: кез келген адам оның қалай жасалғанын көріп, тексерулерді қайта іске қоса алады.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ЕРЕКШЕЛІГІ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06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86505"/>
            <a:ext cx="10692079" cy="8104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94"/>
              </a:lnSpc>
            </a:pPr>
            <a:r>
              <a:rPr sz="4200" spc="-9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Қосымшаны тірі ететін төрт нәрсе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75643"/>
            <a:ext cx="8767504" cy="3329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Әрқайсысы әдемілік үшін емес: солай оқушы тақырыпты жарты жолда тастамайды.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323084"/>
            <a:ext cx="2522143" cy="2165858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323084"/>
            <a:ext cx="32004" cy="216585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57780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96590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Мұғалімнің тәртібі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75508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0056" y="3175508"/>
            <a:ext cx="1805863" cy="6080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Диалог → ереже →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тапсырма, бірінші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нұсқадағыдай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09492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0056" y="3809492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Тақырыптар — мұғалімнің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парақшасынан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3119" y="2323084"/>
            <a:ext cx="2522143" cy="2165858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3119" y="2323084"/>
            <a:ext cx="32004" cy="216585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9151" y="2557780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9151" y="2796590"/>
            <a:ext cx="2010079" cy="5255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Сөйлейтін</a:t>
            </a:r>
          </a:p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кейіпкерлер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9151" y="3392678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3367" y="3392678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Айша мен мұғалім әр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репликаны айтады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9151" y="3848862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3367" y="3848862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Дауысы естіліп тұрғанда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кейіпкер қозғалады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6431" y="2323084"/>
            <a:ext cx="2522143" cy="2165858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6431" y="2323084"/>
            <a:ext cx="32004" cy="216585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2463" y="2557780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463" y="2796590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Жеңілдіксіз тексеру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2463" y="3175508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679" y="3175508"/>
            <a:ext cx="1805863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Жауап бірден тексеріледі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2463" y="3453892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679" y="3453892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«Бәрін белгілей салу»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есептелмейді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9743" y="2323084"/>
            <a:ext cx="2522143" cy="2165858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9743" y="2323084"/>
            <a:ext cx="32004" cy="216585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5775" y="2557780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5775" y="2796590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Мәтін тексерілген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5775" y="3175508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9991" y="3175508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Ережелер «Бәйшешек»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оқулығымен салыстырылды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5775" y="3631692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9991" y="3631692"/>
            <a:ext cx="1805863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Әр түзету — дереккөзімен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8" y="4891278"/>
            <a:ext cx="10692079" cy="71024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7" y="5090363"/>
            <a:ext cx="10143439" cy="3452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Және бұның бәрі интернетсіз жұмыс істейді: алғашқы жүктеуден кейін қосымша дыбыстаумен бірге құрылғыда сақталады.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2259330"/>
            <a:ext cx="8588959" cy="1929384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ӨЗІҢІЗ КӨРІҢІЗ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07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0854"/>
            <a:ext cx="10692079" cy="7718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80"/>
              </a:lnSpc>
            </a:pPr>
            <a:r>
              <a:rPr sz="4000" spc="-88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Дәл қазір өз телефоныңыздан ашыңыз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30177"/>
            <a:ext cx="8553663" cy="3329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Камераны кодқа бағыттаңыз. Қосымша бірден ашылады — ештеңе орнатудың қажеті жоқ.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59330"/>
            <a:ext cx="1417320" cy="1417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3777233"/>
            <a:ext cx="2057400" cy="4149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Қосымшаны ашу:</a:t>
            </a:r>
          </a:p>
          <a:p>
            <a:pPr algn="l">
              <a:lnSpc>
                <a:spcPts val="1350"/>
              </a:lnSpc>
            </a:pPr>
            <a:r>
              <a:rPr sz="9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tilashar-kz.vercel.app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493010"/>
            <a:ext cx="807689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ТЕЛЕФОНҒА ОРНАТУ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768854"/>
            <a:ext cx="8076895" cy="288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Android: мәзір → «Қосымшаны орнату». iPhone: «Бөлісу» → «Негізгі экранға»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329686"/>
            <a:ext cx="807689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ТЕЛЕФОНҒА ЖӘНЕ КОМПЬЮТЕРГЕ ФАЙЛМЕН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605530"/>
            <a:ext cx="8076895" cy="288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Android және Windows — осында: github.com/s-chaikovskiy/grammarquest-web/releases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04466"/>
            <a:ext cx="3177384" cy="5655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36"/>
              </a:lnSpc>
            </a:pPr>
            <a:r>
              <a:rPr sz="3200" spc="-96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033517"/>
            <a:ext cx="3177384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КБ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274330"/>
            <a:ext cx="3177384" cy="2432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9"/>
              </a:lnSpc>
            </a:pPr>
            <a:r>
              <a:rPr sz="9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сығылған код пен стиль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1512" y="4504466"/>
            <a:ext cx="3177384" cy="5655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36"/>
              </a:lnSpc>
            </a:pPr>
            <a:r>
              <a:rPr sz="3200" spc="-96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1512" y="5033517"/>
            <a:ext cx="3177384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ЖЕЛІ СҰРАУЫ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1512" y="5274330"/>
            <a:ext cx="3177384" cy="2432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9"/>
              </a:lnSpc>
            </a:pPr>
            <a:r>
              <a:rPr sz="9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алғашқы жүктеуден кейін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285788"/>
            <a:ext cx="10692079" cy="2091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Қосымша дыбыс жазбаларын, қаріпті және суреттерді қоса алғанда шамамен 1,5 МБ орын алады. Бір рет жүктеліп, әрі қарай интернетсіз жұмыс істейді — өлшеумен тексерілді.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04202" y="3472687"/>
            <a:ext cx="4337684" cy="2639059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3472687"/>
            <a:ext cx="6153226" cy="2440432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БҰЛ ҚАЙДА ДЕЙІН ӨСЕ АЛАДЫ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08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5202"/>
            <a:ext cx="10692079" cy="12496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Мектеп жобасынан — елдегі барлық</a:t>
            </a:r>
          </a:p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мектепке арналған қосымшаға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2203195"/>
            <a:ext cx="10692079" cy="922020"/>
          </a:xfrm>
          <a:prstGeom prst="rect">
            <a:avLst/>
          </a:prstGeom>
          <a:solidFill>
            <a:srgbClr val="00793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7" y="2403754"/>
            <a:ext cx="10143439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40"/>
              </a:lnSpc>
            </a:pPr>
            <a:r>
              <a:rPr sz="120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Қазірдің өзінде: мұғалімнің тапсырмасы бойынша 7 тақырып және 15 тапсырма · 47 дыбыс жазбасы · интернетсіз жұмыс істейді —</a:t>
            </a:r>
          </a:p>
          <a:p>
            <a:pPr algn="l">
              <a:lnSpc>
                <a:spcPts val="1740"/>
              </a:lnSpc>
            </a:pPr>
            <a:r>
              <a:rPr sz="120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телефонда да, компьютерде де · сайт барлығына ашық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7" y="3724655"/>
            <a:ext cx="5604586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ӨТІНІШІМ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4000499"/>
            <a:ext cx="5604586" cy="1720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1900" spc="-3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Қосымшаға сынақтан өткізетін сыныптар</a:t>
            </a:r>
          </a:p>
          <a:p>
            <a:pPr algn="l">
              <a:lnSpc>
                <a:spcPts val="2500"/>
              </a:lnSpc>
            </a:pPr>
            <a:r>
              <a:rPr sz="1900" spc="-3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және мектеп бағдарламасы бойынша жаңа</a:t>
            </a:r>
          </a:p>
          <a:p>
            <a:pPr algn="l">
              <a:lnSpc>
                <a:spcPts val="2500"/>
              </a:lnSpc>
            </a:pPr>
            <a:r>
              <a:rPr sz="1900" spc="-3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тақырыптар қосуға көмектесетін әдіскер</a:t>
            </a:r>
          </a:p>
          <a:p>
            <a:pPr algn="l">
              <a:lnSpc>
                <a:spcPts val="2500"/>
              </a:lnSpc>
            </a:pPr>
            <a:r>
              <a:rPr sz="1900" spc="-3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мұғалімдер керек. Әрі қарай дамытуға мен</a:t>
            </a:r>
          </a:p>
          <a:p>
            <a:pPr algn="l">
              <a:lnSpc>
                <a:spcPts val="2500"/>
              </a:lnSpc>
            </a:pPr>
            <a:r>
              <a:rPr sz="1900" spc="-3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өзім дайынмын.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8522" y="3724655"/>
            <a:ext cx="378904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АУҚЫМДЫ ДАМУ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8522" y="4038295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088" y="4038295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Мұғалім өзі тапсырма қосатын бет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8522" y="4352747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088" y="4352747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Жаңа тақырыптар: етістік, есімдік, үстеу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8522" y="4667199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088" y="4667199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Ана тілі иесінің тірі дауысымен жазба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8522" y="4981651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088" y="4981651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Мұғалім кабинеті: сынып, тапсырма, үлгерім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8522" y="5296103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088" y="5296103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Google Play және App Store-да жариялау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8522" y="5610555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088" y="5610555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Кез келген мектепке тегін қолжетімділік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323584"/>
            <a:ext cx="10692079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TILASHAR-KZ.VERCEL.APP  ·  МАЛЫШКО МАКАР ЕВГЕНЬЕВИЧ · 6 «Б» СЫНЫП · №35 МЕКТЕП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