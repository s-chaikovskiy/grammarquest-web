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Здравствуйте. Меня зовут [имя], я учусь в [класс].</a:t>
            </a:r>
          </a:p>
          <a:p/>
          <a:p>
            <a:r>
              <a:t>Проект начался не с идеи, а с раздражения: я занимался казахским в приложении</a:t>
            </a:r>
          </a:p>
          <a:p>
            <a:r>
              <a:t>и раз за разом получал «неверно» там, где ответ был правильный. Я решил разобраться</a:t>
            </a:r>
          </a:p>
          <a:p>
            <a:r>
              <a:t>почему — и оказалось, что причина техническая, и её можно устранить.</a:t>
            </a:r>
          </a:p>
          <a:p/>
          <a:p>
            <a:r>
              <a:t>Название «Тілашар» объясню на следующем слайде, если спросят — можно сразу здесь:</a:t>
            </a:r>
          </a:p>
          <a:p>
            <a:r>
              <a:t>«тіл» — язык, «ашар» — откроет. Так называли первые словари-разговорники.</a:t>
            </a:r>
          </a:p>
          <a:p/>
          <a:p>
            <a:r>
              <a:t>Весь доклад — 8–9 минут. На титуле не задерживаться дольше 30 секунд.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Казахский обязателен в школе. Но тренажёра, где объяснение идёт по-русски, почти нет.</a:t>
            </a:r>
          </a:p>
          <a:p/>
          <a:p>
            <a:r>
              <a:t>Я проверил список курсов Duolingo на их собственном сайте в день подготовки доклада</a:t>
            </a:r>
          </a:p>
          <a:p>
            <a:r>
              <a:t>и поставил дату. Если жюри спросит — можно открыть сайт прямо при них.</a:t>
            </a:r>
          </a:p>
          <a:p/>
          <a:p>
            <a:r>
              <a:t>Не говорить «Duolingo плохой». Говорить: он рассчитан на языки с большой аудиторией,</a:t>
            </a:r>
          </a:p>
          <a:p>
            <a:r>
              <a:t>и это нормально. Ниша казахского остаётся незакрытой.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Ключевая мысль: я не стал сразу переделывать программу. Сначала вопрос и гипотеза,</a:t>
            </a:r>
          </a:p>
          <a:p>
            <a:r>
              <a:t>потом проверка.</a:t>
            </a:r>
          </a:p>
          <a:p/>
          <a:p>
            <a:r>
              <a:t>Гипотезу я сформулировал так, чтобы её можно было опровергнуть. Если бы барьеры</a:t>
            </a:r>
          </a:p>
          <a:p>
            <a:r>
              <a:t>оказались не техническими, она бы не подтвердилась — и это был бы честный результат.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Задачи расположены в том порядке, в каком я их делал. Первая — именно «измерить»,</a:t>
            </a:r>
          </a:p>
          <a:p>
            <a:r>
              <a:t>а не «улучшить»: пока не знаешь причину, улучшать нечего.</a:t>
            </a:r>
          </a:p>
          <a:p/>
          <a:p>
            <a:r>
              <a:t>Если спросят, почему 5–11 класс: казахский идёт во всех этих классах, а уровень</a:t>
            </a:r>
          </a:p>
          <a:p>
            <a:r>
              <a:t>подготовки в них разный — отсюда три уровня в приложении.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методический слайд, ради него проект и считается научным.</a:t>
            </a:r>
          </a:p>
          <a:p/>
          <a:p>
            <a:r>
              <a:t>Главное, что нужно донести: ни одно число в докладе не взято из головы.</a:t>
            </a:r>
          </a:p>
          <a:p>
            <a:r>
              <a:t>Любое можно пересчитать той же командой при жюри.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главная находка проекта. Здесь стоит сделать паузу.</a:t>
            </a:r>
          </a:p>
          <a:p/>
          <a:p>
            <a:r>
              <a:t>Скажите фразу целиком: «ученик отвечал верно и получал ошибку». Дайте жюри</a:t>
            </a:r>
          </a:p>
          <a:p>
            <a:r>
              <a:t>секунду. Именно из-за этого прежнюю версию и бросали.</a:t>
            </a:r>
          </a:p>
          <a:p/>
          <a:p>
            <a:r>
              <a:t>Если спросят «а нельзя было просто поставить казахскую раскладку» — можно,</a:t>
            </a:r>
          </a:p>
          <a:p>
            <a:r>
              <a:t>но школьник не будет переключать раскладку на каждое задание, а на телефоне</a:t>
            </a:r>
          </a:p>
          <a:p>
            <a:r>
              <a:t>это ещё и лишние касания.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который обычно удивляет. Большинство популярных шрифтов казахские буквы</a:t>
            </a:r>
          </a:p>
          <a:p>
            <a:r>
              <a:t>не содержат — их приходится проверять отдельно.</a:t>
            </a:r>
          </a:p>
          <a:p/>
          <a:p>
            <a:r>
              <a:t>Ещё одна деталь: шрифт грузился с сайта Google. Приложение объявлено работающим</a:t>
            </a:r>
          </a:p>
          <a:p>
            <a:r>
              <a:t>без интернета — а без интернета шрифт не приезжал вовсе.</a:t>
            </a:r>
          </a:p>
          <a:p/>
          <a:p>
            <a:r>
              <a:t>Golos Text выбран не «потому что красивый», а потому что содержит все девять букв.</a:t>
            </a:r>
          </a:p>
          <a:p>
            <a:r>
              <a:t>Лицензия свободная, файл лицензии лежит в проекте.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Здесь важно не злорадствовать над прежней версией — её писал я же, только раньше</a:t>
            </a:r>
          </a:p>
          <a:p>
            <a:r>
              <a:t>и с помощью нейросети, которая уверенно описывала то, чего не сделала.</a:t>
            </a:r>
          </a:p>
          <a:p/>
          <a:p>
            <a:r>
              <a:t>Главный вывод для меня: описание в документации ничего не доказывает. Проверять</a:t>
            </a:r>
          </a:p>
          <a:p>
            <a:r>
              <a:t>надо код и данные.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свёртку букв: приложение приводит казахские буквы к похожим русским и сравнивает.</a:t>
            </a:r>
          </a:p>
          <a:p>
            <a:r>
              <a:t>Ответ засчитывается, но правильное написание показывается обязательно — иначе</a:t>
            </a:r>
          </a:p>
          <a:p>
            <a:r>
              <a:t>ученик так и не научится писать «кітап».</a:t>
            </a:r>
          </a:p>
          <a:p/>
          <a:p>
            <a:r>
              <a:t>Самый тонкий момент — «почти верно». Об этом следующий слайд.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показывает, что задача была не программистская, а языковая.</a:t>
            </a:r>
          </a:p>
          <a:p/>
          <a:p>
            <a:r>
              <a:t>Я сначала сделал «как у всех» — допуск в один-два символа. И проверка стала засчитывать</a:t>
            </a:r>
          </a:p>
          <a:p>
            <a:r>
              <a:t>«ты делаешь» вместо «я делаю». Ученик получал похвалу за неверную форму — это хуже,</a:t>
            </a:r>
          </a:p>
          <a:p>
            <a:r>
              <a:t>чем строгий отказ.</a:t>
            </a:r>
          </a:p>
          <a:p/>
          <a:p>
            <a:r>
              <a:t>Если жюри спросит, откуда правило: из свойства агглютинативного языка. В казахском</a:t>
            </a:r>
          </a:p>
          <a:p>
            <a:r>
              <a:t>окончание — отдельная морфема, а не часть корня.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 самая содержательная часть проекта с точки зрения языка.</a:t>
            </a:r>
          </a:p>
          <a:p/>
          <a:p>
            <a:r>
              <a:t>Пример с «кітабым» стоит проговорить вслух: в учебнике это отдельное правило,</a:t>
            </a:r>
          </a:p>
          <a:p>
            <a:r>
              <a:t>а у меня оно работает на любом слове, которое введёт ученик.</a:t>
            </a:r>
          </a:p>
          <a:p/>
          <a:p>
            <a:r>
              <a:t>Если спросят про тесты: 21 тест именно на морфологии, всего в проекте 70.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Честный момент, который лучше сказать самому, не дожидаясь вопроса: базовые уроки</a:t>
            </a:r>
          </a:p>
          <a:p>
            <a:r>
              <a:t>писал я, а не носитель языка, поэтому они идут на проверку учителю.</a:t>
            </a:r>
          </a:p>
          <a:p/>
          <a:p>
            <a:r>
              <a:t>Про уровень: он подсказка, а не замок. Уроки не запираются — школьник, которому тема</a:t>
            </a:r>
          </a:p>
          <a:p>
            <a:r>
              <a:t>уже знакома, не должен продираться через всё подряд.</a:t>
            </a:r>
          </a:p>
          <a:p/>
          <a:p>
            <a:r>
              <a:t>Про дистракторы (неверные варианты в заданиях с выбором): они не случайные, а построены</a:t>
            </a:r>
          </a:p>
          <a:p>
            <a:r>
              <a:t>по правилам морфологии — другое лицо, другое время того же глагола.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Интервальное повторение — известный приём, я его не изобретал. Важно, что теперь</a:t>
            </a:r>
          </a:p>
          <a:p>
            <a:r>
              <a:t>он действительно работает: в прежней версии экран был, а алгоритма не было.</a:t>
            </a:r>
          </a:p>
          <a:p/>
          <a:p>
            <a:r>
              <a:t>Разбор ошибок в конце урока не начисляет очки намеренно: он нужен, чтобы разобраться,</a:t>
            </a:r>
          </a:p>
          <a:p>
            <a:r>
              <a:t>а не чтобы набрать XP.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Живую демонстрацию готовить заранее: открыть приложение до выступления, выбрать</a:t>
            </a:r>
          </a:p>
          <a:p>
            <a:r>
              <a:t>короткий урок, проверить интернет — хотя он и не нужен, приложение работает офлайн.</a:t>
            </a:r>
          </a:p>
          <a:p/>
          <a:p>
            <a:r>
              <a:t>Запасной вариант, если проектор не покажет телефон: скриншоты в конце колоды.</a:t>
            </a:r>
          </a:p>
          <a:p/>
          <a:p>
            <a:r>
              <a:t>Показывать не больше одного задания. Смысл слайда — что это работает, а не пересказ</a:t>
            </a:r>
          </a:p>
          <a:p>
            <a:r>
              <a:t>интерфейса.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Про вес: код и стили — 199 килобайт, всё приложение целиком около 1,4 мегабайта.</a:t>
            </a:r>
          </a:p>
          <a:p>
            <a:r>
              <a:t>Это меньше одной фотографии с телефона. Важно для школьного телефона</a:t>
            </a:r>
          </a:p>
          <a:p>
            <a:r>
              <a:t>с дешёвым интернетом.</a:t>
            </a:r>
          </a:p>
          <a:p/>
          <a:p>
            <a:r>
              <a:t>Если спросят про озвучку: система готова, фразы отобраны, каждая реплика привязана</a:t>
            </a:r>
          </a:p>
          <a:p>
            <a:r>
              <a:t>к своему голосу. Записи добавляются файлами и подхватываются без изменения кода.</a:t>
            </a:r>
          </a:p>
          <a:p>
            <a:r>
              <a:t>Браузерный синтез намеренно не используется — казахских голосов в системе нет,</a:t>
            </a:r>
          </a:p>
          <a:p>
            <a:r>
              <a:t>и казахский текст читался бы чужим языком.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Этот слайд отвечает на самый частый вопрос жюри: «а что здесь сделал ты?».</a:t>
            </a:r>
          </a:p>
          <a:p/>
          <a:p>
            <a:r>
              <a:t>Отвечать спокойно и честно: код помогала писать нейросеть, а работа исследователя —</a:t>
            </a:r>
          </a:p>
          <a:p>
            <a:r>
              <a:t>поставить вопрос, измерить, найти причину и проверить результат. Прежняя версия</a:t>
            </a:r>
          </a:p>
          <a:p>
            <a:r>
              <a:t>как раз и была написана без проверки — и не работала.</a:t>
            </a:r>
          </a:p>
          <a:p/>
          <a:p>
            <a:r>
              <a:t>Про проверку формулировок: в первой версии задание просило написать любое имя,</a:t>
            </a:r>
          </a:p>
          <a:p>
            <a:r>
              <a:t>а принимало только одно. Теперь такие обещания ловятся автоматически при сборке.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Слайд, где нельзя врать. Если жюри спросит «а результаты?» — ответ: эксперимент</a:t>
            </a:r>
          </a:p>
          <a:p>
            <a:r>
              <a:t>запланирован, инструмент готов, данных пока нет.</a:t>
            </a:r>
          </a:p>
          <a:p/>
          <a:p>
            <a:r>
              <a:t>Это сильнее, чем выдуманные проценты: члены жюри такие проценты слышат каждый год</a:t>
            </a:r>
          </a:p>
          <a:p>
            <a:r>
              <a:t>и умеют их отличать.</a:t>
            </a:r>
          </a:p>
          <a:p/>
          <a:p>
            <a:r>
              <a:t>Если апробация к защите пройдёт — слайд заменяется настоящими числами, они</a:t>
            </a:r>
          </a:p>
          <a:p>
            <a:r>
              <a:t>выгружаются из приложения одной кнопкой.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Финал. Не читать вывод по бумажке — сказать своими словами.</a:t>
            </a:r>
          </a:p>
          <a:p/>
          <a:p>
            <a:r>
              <a:t>Главная мысль на прощание: казахский не сложнее других языков. Ученику мешало то,</a:t>
            </a:r>
          </a:p>
          <a:p>
            <a:r>
              <a:t>что он не мог нажать нужную букву, а объяснения были написаны не про тот язык.</a:t>
            </a:r>
          </a:p>
          <a:p/>
          <a:p>
            <a:r>
              <a:t>ЧАСТЫЕ ВОПРОСЫ ЖЮРИ</a:t>
            </a:r>
          </a:p>
          <a:p/>
          <a:p>
            <a:r>
              <a:t>1. «Что здесь сделал ты, а что нейросеть?»</a:t>
            </a:r>
          </a:p>
          <a:p>
            <a:r>
              <a:t>   Код помогала писать нейросеть. Я поставил вопрос, измерил, нашёл причины и проверил</a:t>
            </a:r>
          </a:p>
          <a:p>
            <a:r>
              <a:t>   результат. Прежняя версия была написана без проверки — она и не работала.</a:t>
            </a:r>
          </a:p>
          <a:p/>
          <a:p>
            <a:r>
              <a:t>2. «Результаты апробации есть?»</a:t>
            </a:r>
          </a:p>
          <a:p>
            <a:r>
              <a:t>   Нет. Эксперимент запланирован, инструмент сбора встроен, данных пока нет.</a:t>
            </a:r>
          </a:p>
          <a:p>
            <a:r>
              <a:t>   Придумывать проценты я не стал.</a:t>
            </a:r>
          </a:p>
          <a:p/>
          <a:p>
            <a:r>
              <a:t>3. «Чем вы лучше Duolingo?»</a:t>
            </a:r>
          </a:p>
          <a:p>
            <a:r>
              <a:t>   Мы не лучше. Казахского там просто нет — я проверял в день подготовки доклада.</a:t>
            </a:r>
          </a:p>
          <a:p/>
          <a:p>
            <a:r>
              <a:t>4. «Уроки писал носитель языка?»</a:t>
            </a:r>
          </a:p>
          <a:p>
            <a:r>
              <a:t>   Восемь базовых уроков написал я, они помечены в проекте и проходят проверку</a:t>
            </a:r>
          </a:p>
          <a:p>
            <a:r>
              <a:t>   у учителя казахского языка. Остальные взяты из прежней версии курса.</a:t>
            </a:r>
          </a:p>
          <a:p/>
          <a:p>
            <a:r>
              <a:t>5. «Приложение платное?»</a:t>
            </a:r>
          </a:p>
          <a:p>
            <a:r>
              <a:t>   Нет. Открывается по ссылке, работает без интернета, ставится на телефон.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49808" y="1598010"/>
            <a:ext cx="18288" cy="3588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30808" y="1619348"/>
            <a:ext cx="18288" cy="3374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911809" y="1594436"/>
            <a:ext cx="18288" cy="3623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992809" y="1608191"/>
            <a:ext cx="18288" cy="34862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1073810" y="1529369"/>
            <a:ext cx="18288" cy="4274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54811" y="1418028"/>
            <a:ext cx="18288" cy="5387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1235811" y="1364082"/>
            <a:ext cx="18288" cy="5927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316812" y="1420124"/>
            <a:ext cx="18288" cy="5366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1397812" y="1330953"/>
            <a:ext cx="18288" cy="62586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1478813" y="1294751"/>
            <a:ext cx="18288" cy="6620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1559814" y="1434151"/>
            <a:ext cx="18288" cy="52266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1640814" y="1464060"/>
            <a:ext cx="18288" cy="4927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1721815" y="1384227"/>
            <a:ext cx="18288" cy="5725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1802815" y="1452109"/>
            <a:ext cx="18288" cy="50470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1883816" y="1373048"/>
            <a:ext cx="18288" cy="5837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1964817" y="1211104"/>
            <a:ext cx="18288" cy="7457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2045817" y="1350682"/>
            <a:ext cx="18288" cy="6061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2126818" y="1497221"/>
            <a:ext cx="18288" cy="4595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2207818" y="1314420"/>
            <a:ext cx="18288" cy="64239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2288819" y="1521899"/>
            <a:ext cx="18288" cy="434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2369820" y="1362324"/>
            <a:ext cx="18288" cy="5944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2450820" y="1588192"/>
            <a:ext cx="18288" cy="3686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2531821" y="1402593"/>
            <a:ext cx="18288" cy="55422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2612821" y="1608379"/>
            <a:ext cx="18288" cy="34843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2693822" y="1730438"/>
            <a:ext cx="18288" cy="2263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2774822" y="1493390"/>
            <a:ext cx="18288" cy="463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2855823" y="1699963"/>
            <a:ext cx="18288" cy="25685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2936824" y="1696659"/>
            <a:ext cx="18288" cy="26015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3017824" y="1730617"/>
            <a:ext cx="18288" cy="22619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098825" y="1510085"/>
            <a:ext cx="18288" cy="4467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Rectangle 33"/>
          <p:cNvSpPr/>
          <p:nvPr/>
        </p:nvSpPr>
        <p:spPr>
          <a:xfrm>
            <a:off x="3179826" y="1813300"/>
            <a:ext cx="18288" cy="1435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3260826" y="1569376"/>
            <a:ext cx="18288" cy="38743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3341827" y="1794924"/>
            <a:ext cx="18288" cy="161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3422827" y="1658064"/>
            <a:ext cx="18288" cy="29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3503828" y="1468577"/>
            <a:ext cx="18288" cy="48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3584829" y="1461255"/>
            <a:ext cx="18288" cy="49556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665829" y="1709298"/>
            <a:ext cx="18288" cy="24751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3746830" y="1355960"/>
            <a:ext cx="18288" cy="600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3827830" y="1544210"/>
            <a:ext cx="18288" cy="41260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3908831" y="1401750"/>
            <a:ext cx="18288" cy="55506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3989832" y="1456169"/>
            <a:ext cx="18288" cy="5006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4070832" y="1567346"/>
            <a:ext cx="18288" cy="3894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4151833" y="1530165"/>
            <a:ext cx="18288" cy="4266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4232833" y="1502882"/>
            <a:ext cx="18288" cy="45393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4313834" y="1310327"/>
            <a:ext cx="18288" cy="646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4394835" y="1262769"/>
            <a:ext cx="18288" cy="6940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4475835" y="1090870"/>
            <a:ext cx="18288" cy="8659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4556836" y="1263430"/>
            <a:ext cx="18288" cy="6933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4637836" y="1400128"/>
            <a:ext cx="18288" cy="55668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4718837" y="1297107"/>
            <a:ext cx="18288" cy="6597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4799838" y="1243918"/>
            <a:ext cx="18288" cy="71289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4880838" y="1323396"/>
            <a:ext cx="18288" cy="63341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4961839" y="1415333"/>
            <a:ext cx="18288" cy="54148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7" name="Rectangle 56"/>
          <p:cNvSpPr/>
          <p:nvPr/>
        </p:nvSpPr>
        <p:spPr>
          <a:xfrm>
            <a:off x="5042839" y="1463824"/>
            <a:ext cx="18288" cy="4929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5123840" y="1341278"/>
            <a:ext cx="18288" cy="615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204841" y="1286603"/>
            <a:ext cx="18288" cy="670212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5285841" y="1483721"/>
            <a:ext cx="18288" cy="4730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366842" y="1304075"/>
            <a:ext cx="18288" cy="65274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5447842" y="1399302"/>
            <a:ext cx="18288" cy="55751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3" name="Rectangle 62"/>
          <p:cNvSpPr/>
          <p:nvPr/>
        </p:nvSpPr>
        <p:spPr>
          <a:xfrm>
            <a:off x="5528843" y="1728712"/>
            <a:ext cx="18288" cy="22810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4" name="Rectangle 63"/>
          <p:cNvSpPr/>
          <p:nvPr/>
        </p:nvSpPr>
        <p:spPr>
          <a:xfrm>
            <a:off x="5609844" y="1493407"/>
            <a:ext cx="18288" cy="463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690844" y="1744130"/>
            <a:ext cx="18288" cy="2126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5771845" y="1748236"/>
            <a:ext cx="18288" cy="208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852845" y="1829390"/>
            <a:ext cx="18288" cy="12742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8" name="Rectangle 67"/>
          <p:cNvSpPr/>
          <p:nvPr/>
        </p:nvSpPr>
        <p:spPr>
          <a:xfrm>
            <a:off x="5933846" y="1885589"/>
            <a:ext cx="18288" cy="7122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69" name="Rectangle 68"/>
          <p:cNvSpPr/>
          <p:nvPr/>
        </p:nvSpPr>
        <p:spPr>
          <a:xfrm>
            <a:off x="6014847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6095847" y="1818427"/>
            <a:ext cx="18288" cy="1383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6848" y="1720456"/>
            <a:ext cx="18288" cy="2363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257848" y="1910730"/>
            <a:ext cx="18288" cy="4608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338849" y="1692656"/>
            <a:ext cx="18288" cy="2641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4" name="Rectangle 73"/>
          <p:cNvSpPr/>
          <p:nvPr/>
        </p:nvSpPr>
        <p:spPr>
          <a:xfrm>
            <a:off x="6419850" y="1850924"/>
            <a:ext cx="18288" cy="1058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6500850" y="1676557"/>
            <a:ext cx="18288" cy="2802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6581851" y="1739854"/>
            <a:ext cx="18288" cy="21696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662851" y="1701269"/>
            <a:ext cx="18288" cy="25554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8" name="Rectangle 77"/>
          <p:cNvSpPr/>
          <p:nvPr/>
        </p:nvSpPr>
        <p:spPr>
          <a:xfrm>
            <a:off x="6743852" y="1744357"/>
            <a:ext cx="18288" cy="2124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824853" y="1759407"/>
            <a:ext cx="18288" cy="19740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6905853" y="1844397"/>
            <a:ext cx="18288" cy="112418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6986854" y="1672198"/>
            <a:ext cx="18288" cy="28461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2" name="Rectangle 81"/>
          <p:cNvSpPr/>
          <p:nvPr/>
        </p:nvSpPr>
        <p:spPr>
          <a:xfrm>
            <a:off x="7067854" y="1627592"/>
            <a:ext cx="18288" cy="3292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7148855" y="1465395"/>
            <a:ext cx="18288" cy="49142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7229856" y="1707900"/>
            <a:ext cx="18288" cy="24891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7310856" y="1606069"/>
            <a:ext cx="18288" cy="35074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7391857" y="1450799"/>
            <a:ext cx="18288" cy="50601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7" name="Rectangle 86"/>
          <p:cNvSpPr/>
          <p:nvPr/>
        </p:nvSpPr>
        <p:spPr>
          <a:xfrm>
            <a:off x="7472857" y="1544475"/>
            <a:ext cx="18288" cy="4123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8" name="Rectangle 87"/>
          <p:cNvSpPr/>
          <p:nvPr/>
        </p:nvSpPr>
        <p:spPr>
          <a:xfrm>
            <a:off x="7553858" y="1443775"/>
            <a:ext cx="18288" cy="5130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7634859" y="1453188"/>
            <a:ext cx="18288" cy="5036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0" name="Rectangle 89"/>
          <p:cNvSpPr/>
          <p:nvPr/>
        </p:nvSpPr>
        <p:spPr>
          <a:xfrm>
            <a:off x="7715859" y="1481791"/>
            <a:ext cx="18288" cy="47502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7796860" y="1396709"/>
            <a:ext cx="18288" cy="56010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2" name="Rectangle 91"/>
          <p:cNvSpPr/>
          <p:nvPr/>
        </p:nvSpPr>
        <p:spPr>
          <a:xfrm>
            <a:off x="7877860" y="1286242"/>
            <a:ext cx="18288" cy="67057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3" name="Rectangle 92"/>
          <p:cNvSpPr/>
          <p:nvPr/>
        </p:nvSpPr>
        <p:spPr>
          <a:xfrm>
            <a:off x="7958861" y="1317274"/>
            <a:ext cx="18288" cy="639541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4" name="Rectangle 93"/>
          <p:cNvSpPr/>
          <p:nvPr/>
        </p:nvSpPr>
        <p:spPr>
          <a:xfrm>
            <a:off x="8039862" y="1413375"/>
            <a:ext cx="18288" cy="54344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5" name="Rectangle 94"/>
          <p:cNvSpPr/>
          <p:nvPr/>
        </p:nvSpPr>
        <p:spPr>
          <a:xfrm>
            <a:off x="8120862" y="1486655"/>
            <a:ext cx="18288" cy="47016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6" name="Rectangle 95"/>
          <p:cNvSpPr/>
          <p:nvPr/>
        </p:nvSpPr>
        <p:spPr>
          <a:xfrm>
            <a:off x="8201863" y="1329392"/>
            <a:ext cx="18288" cy="62742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7" name="Rectangle 96"/>
          <p:cNvSpPr/>
          <p:nvPr/>
        </p:nvSpPr>
        <p:spPr>
          <a:xfrm>
            <a:off x="8282863" y="1565288"/>
            <a:ext cx="18288" cy="39152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8" name="Rectangle 97"/>
          <p:cNvSpPr/>
          <p:nvPr/>
        </p:nvSpPr>
        <p:spPr>
          <a:xfrm>
            <a:off x="8363864" y="1408519"/>
            <a:ext cx="18288" cy="548296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9" name="Rectangle 98"/>
          <p:cNvSpPr/>
          <p:nvPr/>
        </p:nvSpPr>
        <p:spPr>
          <a:xfrm>
            <a:off x="8444865" y="1638681"/>
            <a:ext cx="18288" cy="318134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0" name="Rectangle 99"/>
          <p:cNvSpPr/>
          <p:nvPr/>
        </p:nvSpPr>
        <p:spPr>
          <a:xfrm>
            <a:off x="8525865" y="1560024"/>
            <a:ext cx="18288" cy="3967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1" name="Rectangle 100"/>
          <p:cNvSpPr/>
          <p:nvPr/>
        </p:nvSpPr>
        <p:spPr>
          <a:xfrm>
            <a:off x="8606866" y="1618064"/>
            <a:ext cx="18288" cy="33875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2" name="Rectangle 101"/>
          <p:cNvSpPr/>
          <p:nvPr/>
        </p:nvSpPr>
        <p:spPr>
          <a:xfrm>
            <a:off x="8687866" y="1541446"/>
            <a:ext cx="18288" cy="41536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3" name="Rectangle 102"/>
          <p:cNvSpPr/>
          <p:nvPr/>
        </p:nvSpPr>
        <p:spPr>
          <a:xfrm>
            <a:off x="8768867" y="1541226"/>
            <a:ext cx="18288" cy="415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4" name="Rectangle 103"/>
          <p:cNvSpPr/>
          <p:nvPr/>
        </p:nvSpPr>
        <p:spPr>
          <a:xfrm>
            <a:off x="8849868" y="1755948"/>
            <a:ext cx="18288" cy="2008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5" name="Rectangle 104"/>
          <p:cNvSpPr/>
          <p:nvPr/>
        </p:nvSpPr>
        <p:spPr>
          <a:xfrm>
            <a:off x="8930868" y="1742738"/>
            <a:ext cx="18288" cy="21407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6" name="Rectangle 105"/>
          <p:cNvSpPr/>
          <p:nvPr/>
        </p:nvSpPr>
        <p:spPr>
          <a:xfrm>
            <a:off x="9011869" y="1723544"/>
            <a:ext cx="18288" cy="23327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7" name="Rectangle 106"/>
          <p:cNvSpPr/>
          <p:nvPr/>
        </p:nvSpPr>
        <p:spPr>
          <a:xfrm>
            <a:off x="9092869" y="1723236"/>
            <a:ext cx="18288" cy="23357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8" name="Rectangle 107"/>
          <p:cNvSpPr/>
          <p:nvPr/>
        </p:nvSpPr>
        <p:spPr>
          <a:xfrm>
            <a:off x="9173870" y="1784781"/>
            <a:ext cx="18288" cy="17203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9" name="Rectangle 108"/>
          <p:cNvSpPr/>
          <p:nvPr/>
        </p:nvSpPr>
        <p:spPr>
          <a:xfrm>
            <a:off x="9254871" y="1660919"/>
            <a:ext cx="18288" cy="29589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0" name="Rectangle 109"/>
          <p:cNvSpPr/>
          <p:nvPr/>
        </p:nvSpPr>
        <p:spPr>
          <a:xfrm>
            <a:off x="9335871" y="1796724"/>
            <a:ext cx="18288" cy="16009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1" name="Rectangle 110"/>
          <p:cNvSpPr/>
          <p:nvPr/>
        </p:nvSpPr>
        <p:spPr>
          <a:xfrm>
            <a:off x="9416872" y="1727960"/>
            <a:ext cx="18288" cy="22885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2" name="Rectangle 111"/>
          <p:cNvSpPr/>
          <p:nvPr/>
        </p:nvSpPr>
        <p:spPr>
          <a:xfrm>
            <a:off x="9497872" y="1796204"/>
            <a:ext cx="18288" cy="160611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3" name="Rectangle 112"/>
          <p:cNvSpPr/>
          <p:nvPr/>
        </p:nvSpPr>
        <p:spPr>
          <a:xfrm>
            <a:off x="9578873" y="1686278"/>
            <a:ext cx="18288" cy="2705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4" name="Rectangle 113"/>
          <p:cNvSpPr/>
          <p:nvPr/>
        </p:nvSpPr>
        <p:spPr>
          <a:xfrm>
            <a:off x="9659874" y="1852556"/>
            <a:ext cx="18288" cy="10425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5" name="Rectangle 114"/>
          <p:cNvSpPr/>
          <p:nvPr/>
        </p:nvSpPr>
        <p:spPr>
          <a:xfrm>
            <a:off x="9740874" y="1845226"/>
            <a:ext cx="18288" cy="11158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6" name="Rectangle 115"/>
          <p:cNvSpPr/>
          <p:nvPr/>
        </p:nvSpPr>
        <p:spPr>
          <a:xfrm>
            <a:off x="9821875" y="1831868"/>
            <a:ext cx="18288" cy="12494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7" name="Rectangle 116"/>
          <p:cNvSpPr/>
          <p:nvPr/>
        </p:nvSpPr>
        <p:spPr>
          <a:xfrm>
            <a:off x="9902875" y="1806327"/>
            <a:ext cx="18288" cy="15048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8" name="Rectangle 117"/>
          <p:cNvSpPr/>
          <p:nvPr/>
        </p:nvSpPr>
        <p:spPr>
          <a:xfrm>
            <a:off x="9983876" y="1700270"/>
            <a:ext cx="18288" cy="2565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9" name="Rectangle 118"/>
          <p:cNvSpPr/>
          <p:nvPr/>
        </p:nvSpPr>
        <p:spPr>
          <a:xfrm>
            <a:off x="10064877" y="1661485"/>
            <a:ext cx="18288" cy="29533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0" name="Rectangle 119"/>
          <p:cNvSpPr/>
          <p:nvPr/>
        </p:nvSpPr>
        <p:spPr>
          <a:xfrm>
            <a:off x="10145877" y="1769816"/>
            <a:ext cx="18288" cy="186999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1" name="Rectangle 120"/>
          <p:cNvSpPr/>
          <p:nvPr/>
        </p:nvSpPr>
        <p:spPr>
          <a:xfrm>
            <a:off x="10226878" y="1761057"/>
            <a:ext cx="18288" cy="19575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2" name="Rectangle 121"/>
          <p:cNvSpPr/>
          <p:nvPr/>
        </p:nvSpPr>
        <p:spPr>
          <a:xfrm>
            <a:off x="10307878" y="1729692"/>
            <a:ext cx="18288" cy="22712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3" name="Rectangle 122"/>
          <p:cNvSpPr/>
          <p:nvPr/>
        </p:nvSpPr>
        <p:spPr>
          <a:xfrm>
            <a:off x="10388879" y="1628577"/>
            <a:ext cx="18288" cy="3282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4" name="Rectangle 123"/>
          <p:cNvSpPr/>
          <p:nvPr/>
        </p:nvSpPr>
        <p:spPr>
          <a:xfrm>
            <a:off x="10469880" y="1740249"/>
            <a:ext cx="18288" cy="2165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5" name="Rectangle 124"/>
          <p:cNvSpPr/>
          <p:nvPr/>
        </p:nvSpPr>
        <p:spPr>
          <a:xfrm>
            <a:off x="10550880" y="1599449"/>
            <a:ext cx="18288" cy="35736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10631881" y="1617542"/>
            <a:ext cx="18288" cy="33927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7" name="Rectangle 126"/>
          <p:cNvSpPr/>
          <p:nvPr/>
        </p:nvSpPr>
        <p:spPr>
          <a:xfrm>
            <a:off x="10712881" y="1695899"/>
            <a:ext cx="18288" cy="260916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8" name="Rectangle 127"/>
          <p:cNvSpPr/>
          <p:nvPr/>
        </p:nvSpPr>
        <p:spPr>
          <a:xfrm>
            <a:off x="10793882" y="1666652"/>
            <a:ext cx="18288" cy="29016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9" name="Rectangle 128"/>
          <p:cNvSpPr/>
          <p:nvPr/>
        </p:nvSpPr>
        <p:spPr>
          <a:xfrm>
            <a:off x="10874883" y="1629378"/>
            <a:ext cx="18288" cy="32743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0" name="Rectangle 129"/>
          <p:cNvSpPr/>
          <p:nvPr/>
        </p:nvSpPr>
        <p:spPr>
          <a:xfrm>
            <a:off x="10955883" y="1623677"/>
            <a:ext cx="18288" cy="333138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11036884" y="1658465"/>
            <a:ext cx="18288" cy="298350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2" name="Rectangle 131"/>
          <p:cNvSpPr/>
          <p:nvPr/>
        </p:nvSpPr>
        <p:spPr>
          <a:xfrm>
            <a:off x="11117884" y="1602222"/>
            <a:ext cx="18288" cy="354593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3" name="Rectangle 132"/>
          <p:cNvSpPr/>
          <p:nvPr/>
        </p:nvSpPr>
        <p:spPr>
          <a:xfrm>
            <a:off x="11198885" y="1703548"/>
            <a:ext cx="18288" cy="253267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4" name="Rectangle 133"/>
          <p:cNvSpPr/>
          <p:nvPr/>
        </p:nvSpPr>
        <p:spPr>
          <a:xfrm>
            <a:off x="11279886" y="1652170"/>
            <a:ext cx="18288" cy="30464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5" name="Rectangle 134"/>
          <p:cNvSpPr/>
          <p:nvPr/>
        </p:nvSpPr>
        <p:spPr>
          <a:xfrm>
            <a:off x="11360886" y="1660421"/>
            <a:ext cx="18288" cy="296394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749808" y="1956816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49808" y="2116328"/>
            <a:ext cx="10692079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80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ҒЫЛЫМИ ЖОБА · ҚАЗАҚСТАН · 2026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749808" y="2499116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Оқушымен таласпайтын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749808" y="3224540"/>
            <a:ext cx="10692079" cy="1030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712"/>
              </a:lnSpc>
            </a:pPr>
            <a:r>
              <a:rPr sz="5600" spc="-15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жаттықтырғыш</a:t>
            </a:r>
          </a:p>
        </p:txBody>
      </p:sp>
      <p:sp>
        <p:nvSpPr>
          <p:cNvPr id="140" name="TextBox 139"/>
          <p:cNvSpPr txBox="1"/>
          <p:nvPr/>
        </p:nvSpPr>
        <p:spPr>
          <a:xfrm>
            <a:off x="749808" y="4297680"/>
            <a:ext cx="7484455" cy="91211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«Тілашар» — орысша сөйлеп, қазақ тілін үйренетіндерге арналған қосымша.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Бұрынғы нұсқа неге жұмыс істемегенін, нені өлшегенімді және не</a:t>
            </a:r>
          </a:p>
          <a:p>
            <a:pPr algn="l">
              <a:lnSpc>
                <a:spcPts val="2100"/>
              </a:lnSpc>
            </a:pPr>
            <a:r>
              <a:rPr sz="1450">
                <a:solidFill>
                  <a:srgbClr val="B6BCC4"/>
                </a:solidFill>
                <a:latin typeface="GQ Text"/>
                <a:cs typeface="GQ Text"/>
                <a:ea typeface="GQ Text"/>
              </a:rPr>
              <a:t>істегенімді айтамын.</a:t>
            </a:r>
          </a:p>
        </p:txBody>
      </p:sp>
      <p:sp>
        <p:nvSpPr>
          <p:cNvPr id="141" name="Rectangle 140"/>
          <p:cNvSpPr/>
          <p:nvPr/>
        </p:nvSpPr>
        <p:spPr>
          <a:xfrm>
            <a:off x="749808" y="5230368"/>
            <a:ext cx="10692079" cy="7315"/>
          </a:xfrm>
          <a:prstGeom prst="rect">
            <a:avLst/>
          </a:prstGeom>
          <a:solidFill>
            <a:srgbClr val="2B313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749808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26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749808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САБАҚ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3500551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225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3500551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ТАПСЫРМА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6251295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6251295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ЖАТТЫҒУ ТҮРІ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002039" y="5444947"/>
            <a:ext cx="2439847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9002039" y="5945123"/>
            <a:ext cx="2439847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ЖАУАПТА ЕРЕКШЕ ӘРІП БАР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6B727B"/>
                </a:solidFill>
                <a:latin typeface="IBM Plex Mono Medium"/>
                <a:cs typeface="IBM Plex Mono Medium"/>
                <a:ea typeface="IBM Plex Mono Medium"/>
              </a:rPr>
              <a:t>ФАМИЛИЯ ИМЯ · __ СЫНЫП · №__ МЕКТЕП, ____ ҚАЛАСЫ · ҒЫЛЫМИ ЖЕТЕКШІ: ____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196431" y="2946400"/>
            <a:ext cx="5245455" cy="12344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46400"/>
            <a:ext cx="5245455" cy="1513839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49808" y="2946400"/>
            <a:ext cx="32004" cy="1513839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ӨЗЕКТІЛІГІ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12496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 бәрі оқиды, ал орыстілді оқушыға</a:t>
            </a:r>
          </a:p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арналған жаттықтырғыш жоқтың қасы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2019381"/>
            <a:ext cx="9409029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 елдегі барлық мектепте оқытылады, оның ішінде оқыту орыс тілінде жүретін мектептерде де.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Түсіндірмесі орысша берілетін цифрлық жаттықтырғыштар өте аз.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745232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3182112"/>
            <a:ext cx="4733391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duolingo.com сайтында орысша білетіндерге арналған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тоғыз тіл бар: ағылшын, неміс, француз, испан, қытай,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корей, жапон, итальян, португал. Бұл тізімде қазақ тілі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жоқ.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2463" y="3184144"/>
            <a:ext cx="4733391" cy="7818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Демек, оқушыға оқулық пен дәптер ғана қалады. Ал тілді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күн сайынғы 10–15 минуттық қысқа жаттығу береді — оны</a:t>
            </a:r>
          </a:p>
          <a:p>
            <a:pPr algn="l">
              <a:lnSpc>
                <a:spcPts val="1800"/>
              </a:lnSpc>
            </a:pPr>
            <a:r>
              <a:rPr sz="12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телефоннан істеу ыңғайлы.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Дереккөз: duolingo.com/courses, «Орыс тілін білетіндерге арналған курстар» бөлімі. 25.08.2026 тексерілді.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04202" y="2919476"/>
            <a:ext cx="4337684" cy="179984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919476"/>
            <a:ext cx="6153226" cy="2257043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ЗЕРТТЕУ МӘСЕЛЕСІ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Менде бағдарлама бұрыннан бар еді. Ол жұмыс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істемеді — мен себебін білгім келді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Бұрын жазылған нұсқа болды, бірақ оқушылар бірнеше тапсырмадан кейін тастап кететін. Соқыр қайта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жазудың орнына мен сұрақты зерттеу сұрағы ретінде қойдым.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7144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ЗЕРТТЕУ СҰРАҒЫ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422904"/>
            <a:ext cx="5604586" cy="157175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Орыстілді оқушыға цифрлық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жаттықтырғышта қазақ тілін үйренуге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кедергі: мазмұн ба, интерфейс пе,</a:t>
            </a:r>
          </a:p>
          <a:p>
            <a:pPr algn="l">
              <a:lnSpc>
                <a:spcPts val="2800"/>
              </a:lnSpc>
            </a:pPr>
            <a:r>
              <a:rPr sz="2100" spc="-38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әлде басқа нәрсе ме?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317144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БОЛЖАМ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78522" y="3441192"/>
            <a:ext cx="3789045" cy="106654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Басты кедергі — тілдің қиындығы емес,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техникалық бөгеттер: оқушы дұрыс жауапты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физикалық түрде тере алмайды, ал</a:t>
            </a:r>
          </a:p>
          <a:p>
            <a:pPr algn="l">
              <a:lnSpc>
                <a:spcPts val="1900"/>
              </a:lnSpc>
            </a:pPr>
            <a:r>
              <a:rPr sz="130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түсіндірмелер басқа тіл туралы жазылған.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7104202" y="2277364"/>
            <a:ext cx="4337684" cy="1964182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МАҚСАТ ЖӘНЕ МІНДЕТТЕР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3899"/>
            <a:ext cx="10692079" cy="11181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Мақсат: жұмыс істемейтін нобайды күн сайын</a:t>
            </a:r>
          </a:p>
          <a:p>
            <a:pPr algn="l">
              <a:lnSpc>
                <a:spcPts val="3638"/>
              </a:lnSpc>
            </a:pPr>
            <a:r>
              <a:rPr sz="3400" spc="-75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қолдануға болатын жаттықтырғышқа айналдыру</a:t>
            </a:r>
          </a:p>
        </p:txBody>
      </p:sp>
      <p:sp>
        <p:nvSpPr>
          <p:cNvPr id="7" name="Rectangle 6"/>
          <p:cNvSpPr/>
          <p:nvPr/>
        </p:nvSpPr>
        <p:spPr>
          <a:xfrm>
            <a:off x="749808" y="205790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49808" y="2255012"/>
            <a:ext cx="615322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МІНДЕТТЕР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85516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585516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Өлшеу.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Бұрынғы нұсқаның әрбір мәлімделген қасиетін көзбен емес,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деректермен тексеру.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49904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3149904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Енгізу бөгетін алу.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Дұрыс жауап кәдімгі орыс пернетақтасынан да есептелетін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болсын.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714292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714292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Мазмұнды толықтыру.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Курс 8–11 сынып деңгейінен басталатын — бесінші сынып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оқушысына тірек жоқ еді.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49808" y="4278680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6724" y="4278680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Телефонға жеткізу.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Қосымша негізгі экраннан ашылып, интернетсіз жұмыс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істеуі керек.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843068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→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66724" y="4843068"/>
            <a:ext cx="593631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Адамдарда тексеру.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Нәтижені мәлімдеу емес, өлшеу үшін дерек жинауды ішіне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салу.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360234" y="2529332"/>
            <a:ext cx="382562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НЫСАНЫ МЕН ПӘНІ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360234" y="2820416"/>
            <a:ext cx="3825621" cy="12045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Нысаны — 5–11 сынып орыстілді оқушыларына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қазақ тілін оқыту. Пәні — цифрлық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жаттықтырғыштың көмектесуін тоқтатып, кедергі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бола бастауына себеп болатын техникалық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бөгеттер.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ӘДІСТЕМЕ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Қалай тексердім: «сияқты» емес, өлшеу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8767504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Бұрынғы нұсқа туралы әрбір тұжырымды жобаның өз деректерімен тексердім. Барлық тексеру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репозиторийде жатқан және қайта іске қосылатын скрипттермен.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28849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Деректерді талдау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Сабақ файлы бойынша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пернетақтасында жоқ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әріптері бар жауаптарды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санадым.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2932115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Қаріптерді талдау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932115" y="3118358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Жүктелген қаріптердің таңба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кестесін оқып, қазақ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әріптерінің бар-жоғын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тексердім.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114422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14422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Кодты оқу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114422" y="3118358"/>
            <a:ext cx="1962851" cy="1032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Мәлімделген тапсырма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түрлері еш жерде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қосылмағанын, ал біреуі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экранды құлататынын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таптым.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296729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7296729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Салмақты өлшеу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296729" y="311835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Қосымша мен суреттердің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салмағын өлшеп, көрсетілу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өлшемімен салыстырдым.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479036" y="2517394"/>
            <a:ext cx="196285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479036" y="2773324"/>
            <a:ext cx="1962851" cy="30297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80"/>
              </a:lnSpc>
            </a:pPr>
            <a:r>
              <a:rPr sz="1500" spc="-22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Автотесттер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479036" y="3118358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Оқулық формаларына 70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тест жаздым — ережелер әр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жинақтауда тексеріледі.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1-ТАБЫС · ЕНГІЗУ БӨГЕТІ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Пернетақтада жоқ тоғыз әріп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602821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Қазақ тілінде ә ғ қ ң ө ұ ү һ і әріптері бар. Орыс пернетақтасында оларды алатын жер жоқ. Ал бұрынғы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тексеру — жолдарды қатаң салыстыру ғана еді.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572593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59AAF8"/>
                </a:solidFill>
                <a:latin typeface="GQ Text Bold"/>
                <a:cs typeface="GQ Text Bold"/>
                <a:ea typeface="GQ Text Bold"/>
              </a:rPr>
              <a:t>193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3388868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225 ЖАУАПТЫҢ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3640729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кемінде бір осындай әрпі бар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05274" y="2572593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86%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405274" y="3388868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КУРС ТАПСЫРМАСЫН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405274" y="3640729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орыс пернетақтасынан теру мүмкін емес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060740" y="2572593"/>
            <a:ext cx="3381146" cy="91901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5096"/>
              </a:lnSpc>
            </a:pPr>
            <a:r>
              <a:rPr sz="5200" spc="-15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60740" y="3388868"/>
            <a:ext cx="3381146" cy="22993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75"/>
              </a:lnSpc>
            </a:pPr>
            <a:r>
              <a:rPr sz="850" spc="68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КӨМЕК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60740" y="3640729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бұрынғы нұсқа бірде-бірін бермеді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4314952"/>
            <a:ext cx="10692079" cy="95885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512564"/>
            <a:ext cx="10143439" cy="59848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Оқушы грамматикалық тұрғыда дұрыс жауап беріп, «қате» алатын. Ол тілді білмеймін деп ойлайды. Шын мәнінде ол</a:t>
            </a:r>
          </a:p>
          <a:p>
            <a:pPr algn="l">
              <a:lnSpc>
                <a:spcPts val="1885"/>
              </a:lnSpc>
            </a:pPr>
            <a:r>
              <a:rPr sz="130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қажетті пернені баса алмайды.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2-ТАБЫС · ҚАРІПТЕР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Қазақ тіліне арналған қосымша қазақ әріптері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жоқ қаріппен терілген 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65025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Жүктелген қаріп файлдарының таңба кестесін оқыдым. Қажетті әріптер онда мүлде жоқ болып шықты —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браузер үнсіз жүйелік қаріпті қоятын.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ҚАРІП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957431" y="2965602"/>
            <a:ext cx="320762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ҚАЙДА ҚОЛДАНЫЛҒАН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165055" y="2965602"/>
            <a:ext cx="4276831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ҚАЗАҚ ӘРІПТЕРІ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49808" y="3221228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49808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Manrope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957431" y="33593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негізгі мәтін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165055" y="33593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ә ғ қ ң ұ жоқ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49808" y="36784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49808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Playfair Display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957431" y="38165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тақырыптар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165055" y="38165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тоғыздың жетеуі жоқ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1356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Golos Text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57431" y="4273725"/>
            <a:ext cx="320762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қазір тұрғаны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65055" y="4273725"/>
            <a:ext cx="4276831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тоғызы да орнында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49808" y="459282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749808" y="4976876"/>
            <a:ext cx="10692079" cy="940435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24127" y="5175961"/>
            <a:ext cx="10143439" cy="57546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Сөздің жартысы бір қаріппен, жартысы басқасымен терілген. Қате басылған сияқты көрінеді, ал шын мәнінде бұл — қаріптің</a:t>
            </a:r>
          </a:p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ауысуы.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Көзбен емес, қаріп файлдарының cmap кестесін талдау арқылы тексерілді.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3-ТАБЫС · МӘЛІМДЕЛГЕНІ МЕН ШЫНДЫҒЫ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08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3683"/>
            <a:ext cx="10692079" cy="56924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156"/>
              </a:lnSpc>
            </a:pPr>
            <a:r>
              <a:rPr sz="2950" spc="-65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Мәлімделген мүмкіндіктердің жартысы жоқ болып шықты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87492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Бұрынғы нұсқаның құжаттамасын оның кодымен салыстырдым. Барлығы дерлік сәйкес келмеді.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135339"/>
            <a:ext cx="4455033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НЕ МӘЛІМДЕЛДІ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204841" y="2135339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A6ADB6"/>
                </a:solidFill>
                <a:latin typeface="IBM Plex Mono SemiBold"/>
                <a:cs typeface="IBM Plex Mono SemiBold"/>
                <a:ea typeface="IBM Plex Mono SemiBold"/>
              </a:rPr>
              <a:t>КОДТА НЕ БОЛДЫ</a:t>
            </a:r>
          </a:p>
        </p:txBody>
      </p:sp>
      <p:sp>
        <p:nvSpPr>
          <p:cNvPr id="10" name="Rectangle 9"/>
          <p:cNvSpPr/>
          <p:nvPr/>
        </p:nvSpPr>
        <p:spPr>
          <a:xfrm>
            <a:off x="749808" y="2390965"/>
            <a:ext cx="10692079" cy="7315"/>
          </a:xfrm>
          <a:prstGeom prst="rect">
            <a:avLst/>
          </a:prstGeom>
          <a:solidFill>
            <a:srgbClr val="EEEBE5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49808" y="2519918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Бес тапсырма түрі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204841" y="2519918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Біреуі ғана жұмыс істеді. Түр белгісі мүлде жоқ еді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49808" y="2829877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49808" y="2958830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Сәйкестендіру тапсырмасы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204841" y="2958830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Экранды құлатар еді: React ережелері бұзылған</a:t>
            </a:r>
          </a:p>
        </p:txBody>
      </p:sp>
      <p:sp>
        <p:nvSpPr>
          <p:cNvPr id="16" name="Rectangle 15"/>
          <p:cNvSpPr/>
          <p:nvPr/>
        </p:nvSpPr>
        <p:spPr>
          <a:xfrm>
            <a:off x="749808" y="3268789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49808" y="3397742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Аралық қайталау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204841" y="3397742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Экран бар, алгоритм жоқ — өтілгенді қатарынан айдайтын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3707701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49808" y="3836654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Интернетсіз жұмыс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1" y="3836654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Қаріп желіден жүктелетін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4146613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4275566"/>
            <a:ext cx="4455033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 SemiBold"/>
                <a:cs typeface="GQ Text SemiBold"/>
                <a:ea typeface="GQ Text SemiBold"/>
              </a:rPr>
              <a:t>Ақылды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204841" y="4275566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Жолдарды қатаң салыстыру</a:t>
            </a:r>
          </a:p>
        </p:txBody>
      </p:sp>
      <p:sp>
        <p:nvSpPr>
          <p:cNvPr id="25" name="Rectangle 24"/>
          <p:cNvSpPr/>
          <p:nvPr/>
        </p:nvSpPr>
        <p:spPr>
          <a:xfrm>
            <a:off x="749808" y="4585525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1-ШЕШІМ · ЖАУАПТЫ ТЕКСЕРУ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09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1509"/>
            <a:ext cx="10692079" cy="5885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sz="3050" spc="-6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Жолдарды салыстырудың орнына төрт қабатты тексеру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10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Жолдарды салыстыру «сәйкес келді ме, жоқ па» дегенге ғана жауап береді. Мұғалімге бұл аз: ол оқушының дәл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нені қате істегенін көреді. Мен төрт жағдайды ажырататын тексеру құрдым.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28100"/>
            <a:ext cx="32004" cy="1756410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ДҰРЫС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Толық сәйкестік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05840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10056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Жауап толық есептелді</a:t>
            </a:r>
          </a:p>
        </p:txBody>
      </p:sp>
      <p:sp>
        <p:nvSpPr>
          <p:cNvPr id="14" name="Rectangle 13"/>
          <p:cNvSpPr/>
          <p:nvPr/>
        </p:nvSpPr>
        <p:spPr>
          <a:xfrm>
            <a:off x="3473119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73119" y="2328100"/>
            <a:ext cx="32004" cy="1756410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729151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ГРАММАТИКА ДҰРЫС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729151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Әріптерді жақындату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729151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933367" y="316604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«кітап» орнына «китап» —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есептеледі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729151" y="36222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33367" y="3622230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Дұрыс жазылуы көрсетіледі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196431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196431" y="2328100"/>
            <a:ext cx="32004" cy="1756410"/>
          </a:xfrm>
          <a:prstGeom prst="rect">
            <a:avLst/>
          </a:prstGeom>
          <a:solidFill>
            <a:srgbClr val="7F5400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52463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7F5400"/>
                </a:solidFill>
                <a:latin typeface="IBM Plex Mono SemiBold"/>
                <a:cs typeface="IBM Plex Mono SemiBold"/>
                <a:ea typeface="IBM Plex Mono SemiBold"/>
              </a:rPr>
              <a:t>ДЕРЛІК ДҰРЫС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2463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Бір әріп артық не кем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56679" y="3166046"/>
            <a:ext cx="1805863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Тек қате басу, әріптің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ауысуы емес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919743" y="2328100"/>
            <a:ext cx="2522143" cy="1756410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919743" y="2328100"/>
            <a:ext cx="32004" cy="1756410"/>
          </a:xfrm>
          <a:prstGeom prst="rect">
            <a:avLst/>
          </a:prstGeom>
          <a:solidFill>
            <a:srgbClr val="BA1D27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75775" y="2562796"/>
            <a:ext cx="2010079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BA1D27"/>
                </a:solidFill>
                <a:latin typeface="IBM Plex Mono SemiBold"/>
                <a:cs typeface="IBM Plex Mono SemiBold"/>
                <a:ea typeface="IBM Plex Mono SemiBold"/>
              </a:rPr>
              <a:t>СӘЙКЕС КЕЛМЕДІ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175775" y="2803923"/>
            <a:ext cx="2010079" cy="28782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96"/>
              </a:lnSpc>
            </a:pPr>
            <a:r>
              <a:rPr sz="1400" spc="-21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Басқа форма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75775" y="3166046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379991" y="3166046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Дұрыс жауап көрсетіледі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75775" y="3444430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379991" y="3444430"/>
            <a:ext cx="1805863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Тапсырма қайталауға кетеді</a:t>
            </a:r>
          </a:p>
        </p:txBody>
      </p:sp>
      <p:sp>
        <p:nvSpPr>
          <p:cNvPr id="36" name="Rectangle 35"/>
          <p:cNvSpPr/>
          <p:nvPr/>
        </p:nvSpPr>
        <p:spPr>
          <a:xfrm>
            <a:off x="749808" y="4431982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24127" y="4631067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Оның үстіне әр енгізу өрісінің астында ә ғ қ ң ө ұ ү һ і қатары бар: бастың — әріп қойылды.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6196431" y="2937764"/>
            <a:ext cx="5245455" cy="2313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49808" y="2937764"/>
            <a:ext cx="5245455" cy="2533903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1-ШЕШІМ · НӘЗІК ТҰС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10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9551"/>
            <a:ext cx="10692079" cy="118387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Қазақ тілінде қате басуға жеңілдік неге</a:t>
            </a:r>
          </a:p>
          <a:p>
            <a:pPr algn="l">
              <a:lnSpc>
                <a:spcPts val="3852"/>
              </a:lnSpc>
            </a:pPr>
            <a:r>
              <a:rPr sz="3600" spc="-79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басқаша жұмыс істейді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955881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Кәдімгі жаттықтырғыштар бір-екі әріп қатесін кешіреді. Қазақ тілінде бұл тексеруді бұзады: грамматика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жалғауда тұр, ал бір әріп — бұл басқа жақ.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3157219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жатырмын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7" y="3579368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мен істеп жатырмын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7" y="3946651"/>
            <a:ext cx="4696815" cy="48691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00"/>
              </a:lnSpc>
            </a:pPr>
            <a:r>
              <a:rPr sz="2200" spc="-22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жатырсың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24127" y="4368799"/>
            <a:ext cx="4696815" cy="2705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сен істеп жатырсың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24127" y="4758435"/>
            <a:ext cx="4696815" cy="491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Бұл формалардың арасы — дәл бір таңба. Кәдімгі қате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басудағыдай.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70751" y="3189732"/>
            <a:ext cx="469681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МЕН ШЫҒАРҒАН ЕРЕЖЕ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470751" y="3469640"/>
            <a:ext cx="4696815" cy="158318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Қате басу әріпті жоғалтады немесе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қосады. Форманың ауысуы оны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алмастырады. Сондықтан жеңілдік тек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жауап ұзындығы әртүрлі болғанда — және</a:t>
            </a:r>
          </a:p>
          <a:p>
            <a:pPr algn="l">
              <a:lnSpc>
                <a:spcPts val="2300"/>
              </a:lnSpc>
            </a:pPr>
            <a:r>
              <a:rPr sz="1700" spc="-26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бір таңбадан аспайды.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2-ШЕШІМ · МОРФОЛОГИЯ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11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9119"/>
            <a:ext cx="10692079" cy="52100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889"/>
              </a:lnSpc>
            </a:pPr>
            <a:r>
              <a:rPr sz="2700" spc="-59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Жалғауларды қосымша кестеден алмайды, ережемен есептейді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53520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Оқушы кез келген өз сөзін қойып, оның барлық формасын көреді: жалғау боялған, қасында неге дәл сол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таңдалғаны айтылған.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079370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35755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6724" y="2357551"/>
            <a:ext cx="6569760" cy="5111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Үндестік заңы.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Жалғаудағы дауысты дыбыстың тобы соңғы әріптен емес, сөз түбірінен</a:t>
            </a:r>
          </a:p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алынады.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94937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6724" y="2949371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Ұяңдау.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«кітап» + «ым» → «кітабым»: қ, к, п дауысты жалғау алдында ұяңдайды.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336721"/>
            <a:ext cx="216916" cy="2903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6724" y="3336721"/>
            <a:ext cx="6569760" cy="30670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10"/>
              </a:lnSpc>
            </a:pPr>
            <a:r>
              <a:rPr sz="115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Соңғы дыбыс. </a:t>
            </a:r>
            <a:r>
              <a:rPr sz="11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 р, й, у-дан кейін -лар/-лер, ал л, м, н, ң-нан кейін -дар/-дер қойылады.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011972" y="233052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7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011972" y="2830703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СЕПТІК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222333" y="233052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21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222333" y="2830703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ЕРЕЖЕГЕ ТЕСТ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432694" y="2330526"/>
            <a:ext cx="1009192" cy="53019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940"/>
              </a:lnSpc>
            </a:pPr>
            <a:r>
              <a:rPr sz="3000" spc="-90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174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432694" y="2830703"/>
            <a:ext cx="1009192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СӨЗДІКТЕГІ СӨЗ</a:t>
            </a:r>
          </a:p>
        </p:txBody>
      </p:sp>
      <p:sp>
        <p:nvSpPr>
          <p:cNvPr id="21" name="Rectangle 20"/>
          <p:cNvSpPr/>
          <p:nvPr/>
        </p:nvSpPr>
        <p:spPr>
          <a:xfrm>
            <a:off x="749808" y="4049395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24127" y="4248480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Ережелер оқулық формаларына жазылған автотесттермен қорғалған: оларды байқаусыз бұзу мүмкін емес.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3-ШЕШІМ · МАЗМҰН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12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22380"/>
            <a:ext cx="10692079" cy="4920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728"/>
              </a:lnSpc>
            </a:pPr>
            <a:r>
              <a:rPr sz="2550" spc="-56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Курс 8–11 сынып деңгейінен басталатын. Мен басын толықтырдым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333136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Бірінші тапсырма «Мен қазір кітап оқып жатырмын» еді. Бесінші сынып оқушысына тірек жоқ: не сәлемдесу, не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сан, не отбасы, не мектеп.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49808" y="2297137"/>
            <a:ext cx="2138415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ДЕҢГЕЙ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88223" y="2297137"/>
            <a:ext cx="1247409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СЫНЫП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35633" y="2297137"/>
            <a:ext cx="1069207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САБАҚ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204840" y="2297137"/>
            <a:ext cx="6237046" cy="1992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5"/>
              </a:lnSpc>
            </a:pPr>
            <a:r>
              <a:rPr sz="850" spc="119">
                <a:solidFill>
                  <a:srgbClr val="535C66"/>
                </a:solidFill>
                <a:latin typeface="IBM Plex Mono SemiBold"/>
                <a:cs typeface="IBM Plex Mono SemiBold"/>
                <a:ea typeface="IBM Plex Mono SemiBold"/>
              </a:rPr>
              <a:t>НЕ ТУРАЛЫ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9808" y="2552763"/>
            <a:ext cx="10692079" cy="7315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49808" y="2672572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Бастама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888223" y="2672572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5–7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135633" y="2672572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12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04840" y="2672572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Алғашқы сөздер, сан, отбасы, мектеп, грамматика негізі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2973387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49808" y="3093196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Сенімді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88223" y="3093196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7–9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35633" y="3093196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04840" y="3093196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Септіктер және етістік шақтары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49808" y="3394011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49808" y="3513820"/>
            <a:ext cx="2138415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0064B9"/>
                </a:solidFill>
                <a:latin typeface="GQ Text SemiBold"/>
                <a:cs typeface="GQ Text SemiBold"/>
                <a:ea typeface="GQ Text SemiBold"/>
              </a:rPr>
              <a:t>Еркін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88223" y="3513820"/>
            <a:ext cx="1247409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9–11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135633" y="3513820"/>
            <a:ext cx="1069207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04840" y="3513820"/>
            <a:ext cx="6237046" cy="25373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7"/>
              </a:lnSpc>
            </a:pPr>
            <a:r>
              <a:rPr sz="105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Райлар, етіс, күрделі сөйлеу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49808" y="3814635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49808" y="4121467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БІРДІҢ ОРНЫНА ЖЕТІ ТАПСЫРМА ТҮРІ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9808" y="4394263"/>
            <a:ext cx="10692079" cy="53784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Сөйлемдегі бос орын · төртеуден таңдау · сөйлем құрау · формаларды сәйкестендіру · аударма · еркін енгізу · өзін-өзі тексеретін толық</a:t>
            </a:r>
          </a:p>
          <a:p>
            <a:pPr algn="l">
              <a:lnSpc>
                <a:spcPts val="1750"/>
              </a:lnSpc>
            </a:pPr>
            <a:r>
              <a:rPr sz="1200">
                <a:solidFill>
                  <a:srgbClr val="1B222B"/>
                </a:solidFill>
                <a:latin typeface="GQ Text SemiBold"/>
                <a:cs typeface="GQ Text SemiBold"/>
                <a:ea typeface="GQ Text SemiBold"/>
              </a:rPr>
              <a:t>жауап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Сегіз жаңа сабақты мен жаздым, қорғауға дейін оларды қазақ тілі мұғалімі тексереді — олар жобада бөлек белгіленген.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4-ШЕШІМ · ҰСТАП ҚАЛУ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13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06074"/>
            <a:ext cx="10692079" cy="63678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531"/>
              </a:lnSpc>
            </a:pPr>
            <a:r>
              <a:rPr sz="3300" spc="-73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Қайталау материал ұмытыла бастаған кезде келеді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35054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Әр тапсырма карточкаға айналады. Дұрыс жауап берсең — қосымша оны бір күннен кейін, содан соң үш күннен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кейін қайтарады. Қателессең — бүгін-ақ қайтарады.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179193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Оқу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15209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 жолы: өтілгені мен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келесі қадам көрініп тұрады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932115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Жаттығу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932115" y="281520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Күнделікті мақсат, қайталау,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 карточкалары, 60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секундтық спринт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114422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Сөздік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114422" y="2815209"/>
            <a:ext cx="1962851" cy="842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Сабақтардан жиналған 174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сөз, іздеу орыс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пернетақтасынан да жұмыс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істейді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96729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Анықтама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296729" y="2815209"/>
            <a:ext cx="1962851" cy="46101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33 ереже, 22 тақырып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жанды жалғау кестелері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479036" y="2453675"/>
            <a:ext cx="1962851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Профиль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479036" y="2815209"/>
            <a:ext cx="1962851" cy="65150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Статистика, баптаулар және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нәтижелерді кесте түрінде</a:t>
            </a:r>
          </a:p>
          <a:p>
            <a:pPr algn="l">
              <a:lnSpc>
                <a:spcPts val="1500"/>
              </a:lnSpc>
            </a:pPr>
            <a:r>
              <a:rPr sz="10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жүктеу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49808" y="4046601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24127" y="4245686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Сабақ соңындағы қателерді талдау ұпай қоспайды — ол ұпай жинау үшін емес, түсіну үшін керек.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КӨРСЕТУ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14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2157"/>
            <a:ext cx="10692079" cy="84904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708"/>
              </a:lnSpc>
            </a:pPr>
            <a:r>
              <a:rPr sz="4400" spc="-97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Бұл қалай көрінеді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84533"/>
            <a:ext cx="8553663" cy="33290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Сабақ төрт қадаммен жүреді. Әр қадам — бір ой, бет-бет мәтін емес.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8683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2382266"/>
            <a:ext cx="2508427" cy="27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49808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Диалог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49808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54023" y="3402075"/>
            <a:ext cx="2304211" cy="6080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Қазақша жанды реплика, астында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аудармасы. Әр сөйлеуші өз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бейнесімен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77691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477691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477691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Ереже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477691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477691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81907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Бір ереже және мұғалім кеңесі. Бір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реттен артық берілмейді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05575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205575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03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05575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Тапсырма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205575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205575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9791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Жеті түрдің бірі, сұраса көмек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беріледі</a:t>
            </a:r>
          </a:p>
        </p:txBody>
      </p:sp>
      <p:sp>
        <p:nvSpPr>
          <p:cNvPr id="27" name="Rectangle 26"/>
          <p:cNvSpPr/>
          <p:nvPr/>
        </p:nvSpPr>
        <p:spPr>
          <a:xfrm>
            <a:off x="8933459" y="2382266"/>
            <a:ext cx="2508427" cy="27432"/>
          </a:xfrm>
          <a:prstGeom prst="rect">
            <a:avLst/>
          </a:prstGeom>
          <a:solidFill>
            <a:srgbClr val="DDE4EA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33459" y="2583942"/>
            <a:ext cx="2508427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04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33459" y="2791876"/>
            <a:ext cx="2508427" cy="32316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792"/>
              </a:lnSpc>
            </a:pPr>
            <a:r>
              <a:rPr sz="1600" spc="-2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Талдау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8933459" y="3105657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54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/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933459" y="3402075"/>
            <a:ext cx="204216" cy="25247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·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37675" y="3402075"/>
            <a:ext cx="2304211" cy="430276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 шықпағаны — және қателер</a:t>
            </a:r>
          </a:p>
          <a:p>
            <a:pPr algn="l">
              <a:lnSpc>
                <a:spcPts val="1400"/>
              </a:lnSpc>
            </a:pPr>
            <a:r>
              <a:rPr sz="10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бойынша қайта өту</a:t>
            </a:r>
          </a:p>
        </p:txBody>
      </p:sp>
      <p:sp>
        <p:nvSpPr>
          <p:cNvPr id="33" name="Rectangle 32"/>
          <p:cNvSpPr/>
          <p:nvPr/>
        </p:nvSpPr>
        <p:spPr>
          <a:xfrm>
            <a:off x="749808" y="4384547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24127" y="4583633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Тікелей көрсету: қосымшаны телефоннан ашып, бір тапсырманы орындау.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ТЕЛЕФОНДАҒЫ ҚОСЫМША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15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811509"/>
            <a:ext cx="10692079" cy="58853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264"/>
              </a:lnSpc>
            </a:pPr>
            <a:r>
              <a:rPr sz="3050" spc="-67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Телефонға орнатылады және интернетсіз жұмыс істейді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401081"/>
            <a:ext cx="8981346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негізгі экраннан кәдімгідей ашылады. Бөлек Android үшін орнату файлы жиналады — сұраса, дайын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тұрсын.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346388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2581084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БРАУЗЕРДЕН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82334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16406" y="2823349"/>
            <a:ext cx="4513681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Android: мәзір → «Қосымшаны орнату». iPhone: «Бөлісу» →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«Негізгі экранға»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205575" y="2346388"/>
            <a:ext cx="5236311" cy="1155446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461607" y="2581084"/>
            <a:ext cx="4724247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APK ФАЙЛЫМЕН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61607" y="282334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672173" y="2823349"/>
            <a:ext cx="4513681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Жобаның әр жаңаруында автоматты түрде жиналады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9808" y="3836464"/>
            <a:ext cx="3381146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199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49808" y="4394390"/>
            <a:ext cx="338114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КБ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9808" y="4635202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сығылған код пен стиль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405274" y="3836464"/>
            <a:ext cx="3381146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0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05274" y="4394390"/>
            <a:ext cx="338114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ЖЕЛІ СҰРАУЫ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405274" y="4635202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алғашқы жүктеуден кейін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060740" y="3836464"/>
            <a:ext cx="3381146" cy="60089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3332"/>
              </a:lnSpc>
            </a:pPr>
            <a:r>
              <a:rPr sz="3400" spc="-10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589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60740" y="4394390"/>
            <a:ext cx="3381146" cy="21640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200"/>
              </a:lnSpc>
            </a:pPr>
            <a:r>
              <a:rPr sz="800" spc="64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СӨЗ ТІРКЕСІ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060740" y="4635202"/>
            <a:ext cx="3381146" cy="243278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349"/>
              </a:lnSpc>
            </a:pPr>
            <a:r>
              <a:rPr sz="9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дыбыстауға дайын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49808" y="6285788"/>
            <a:ext cx="10692079" cy="20919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60"/>
              </a:lnSpc>
            </a:pPr>
            <a:r>
              <a:rPr sz="850">
                <a:solidFill>
                  <a:srgbClr val="A6ADB6"/>
                </a:solidFill>
                <a:latin typeface="GQ Text"/>
                <a:cs typeface="GQ Text"/>
                <a:ea typeface="GQ Text"/>
              </a:rPr>
              <a:t>Қосымша қаріпті және суреттерді қоса алғанда шамамен 1,4 МБ орын алады. Ол бір рет жүктеліп, әрі қарай интернетсіз жұмыс істейді — тексерілді: желіге бірде-бір сұрау кетпейді.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8" name="Rectangle 27"/>
          <p:cNvSpPr/>
          <p:nvPr/>
        </p:nvSpPr>
        <p:spPr>
          <a:xfrm>
            <a:off x="6196431" y="2448306"/>
            <a:ext cx="5245455" cy="2037587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96431" y="2448306"/>
            <a:ext cx="32004" cy="2037587"/>
          </a:xfrm>
          <a:prstGeom prst="rect">
            <a:avLst/>
          </a:prstGeom>
          <a:solidFill>
            <a:srgbClr val="00793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49808" y="2448306"/>
            <a:ext cx="5245455" cy="2233167"/>
          </a:xfrm>
          <a:prstGeom prst="rect">
            <a:avLst/>
          </a:prstGeom>
          <a:solidFill>
            <a:srgbClr val="ECF1F5"/>
          </a:solidFill>
          <a:ln w="9525">
            <a:solidFill>
              <a:srgbClr val="CCD4DC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749808" y="2448306"/>
            <a:ext cx="32004" cy="223316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МҰНЫ ҚАЛАЙ ІСТЕДІМ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16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5202"/>
            <a:ext cx="10692079" cy="733262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066"/>
              </a:lnSpc>
            </a:pPr>
            <a:r>
              <a:rPr sz="3800" spc="-84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Нені өзім істедім, нені тексеруге бердім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02999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Кодты нейрожелінің көмегімен жаздым — сондықтан оның әр тұжырымын тексердім. Бұрынғы нұсқа тексерусіз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сенімнің немен бітетінін көрсетті.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05840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МЕНІҢ ЖҰМЫСЫМ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05840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216406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Сұрақ пен болжамды қойдым, нені өлшейтінімді таңдадым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16406" y="3337509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Себептерін таптым: пернетақта, қаріптер, жоқ мүмкіндіктер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366110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216406" y="3661105"/>
            <a:ext cx="4522825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Қате басуға жеңілдік ережесін қазақ тілінің қасиетінен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шығардым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05840" y="418028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64B9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16406" y="4180281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Негізгі курс мазмұнын құрап, мұғалімнің тексеруіне бердім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2463" y="2700274"/>
            <a:ext cx="4733391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00793D"/>
                </a:solidFill>
                <a:latin typeface="IBM Plex Mono SemiBold"/>
                <a:cs typeface="IBM Plex Mono SemiBold"/>
                <a:ea typeface="IBM Plex Mono SemiBold"/>
              </a:rPr>
              <a:t>ӨЗІ ТЕКСЕРЕТІНІ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52463" y="30139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63029" y="3013913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Әр өзгерісте 70 автотест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52463" y="3337509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63029" y="3337509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Түс палитрасына 28 тексеру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2463" y="3661105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63029" y="3661105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Мазмұн жиналғанда тапсырма тұжырымдарын тексеру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52463" y="3984701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00793D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63029" y="3984701"/>
            <a:ext cx="4522825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Осы презентацияның беттелуін қайта жинағанда тексеру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7F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СЫНАҚТАН ӨТКІЗУ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535C66"/>
                </a:solidFill>
                <a:latin typeface="IBM Plex Mono Medium"/>
                <a:cs typeface="IBM Plex Mono Medium"/>
                <a:ea typeface="IBM Plex Mono Medium"/>
              </a:rPr>
              <a:t>17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90854"/>
            <a:ext cx="10692079" cy="771855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280"/>
              </a:lnSpc>
            </a:pPr>
            <a:r>
              <a:rPr sz="4000" spc="-88">
                <a:solidFill>
                  <a:srgbClr val="1B222B"/>
                </a:solidFill>
                <a:latin typeface="GQ Text Bold"/>
                <a:cs typeface="GQ Text Bold"/>
                <a:ea typeface="GQ Text Bold"/>
              </a:rPr>
              <a:t>Нәтижені қалай өлшемекпін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49808" y="1530177"/>
            <a:ext cx="9195188" cy="567349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Нақты дерек әзірге жоқ, оны ойдан шығармаймын. Пайыздың орнына эксперимент жоспарын және қосымшаға</a:t>
            </a:r>
          </a:p>
          <a:p>
            <a:pPr algn="l">
              <a:lnSpc>
                <a:spcPts val="1846"/>
              </a:lnSpc>
            </a:pPr>
            <a:r>
              <a:rPr sz="1300">
                <a:solidFill>
                  <a:srgbClr val="535C66"/>
                </a:solidFill>
                <a:latin typeface="GQ Text"/>
                <a:cs typeface="GQ Text"/>
                <a:ea typeface="GQ Text"/>
              </a:rPr>
              <a:t>енгізілген құралды көрсетемін.</a:t>
            </a:r>
          </a:p>
        </p:txBody>
      </p:sp>
      <p:sp>
        <p:nvSpPr>
          <p:cNvPr id="8" name="Rectangle 7"/>
          <p:cNvSpPr/>
          <p:nvPr/>
        </p:nvSpPr>
        <p:spPr>
          <a:xfrm>
            <a:off x="749808" y="2274316"/>
            <a:ext cx="10692079" cy="7315"/>
          </a:xfrm>
          <a:prstGeom prst="rect">
            <a:avLst/>
          </a:prstGeom>
          <a:solidFill>
            <a:srgbClr val="CCD4DC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49808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КІМ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49808" y="2845054"/>
            <a:ext cx="2508427" cy="4917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Бір сынып, 5–7 параллель, 15–20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оқушы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477691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ҚАНША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477691" y="2845054"/>
            <a:ext cx="2508427" cy="2885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Бес оқу күні, күніне 10–15 минут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205575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НЕНІ ӨЛШЕЙМІН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205575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Дұрыс жауап үлесі, жауап уақыты,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сабақ соңына жеткен тапсырма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саны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33459" y="2561844"/>
            <a:ext cx="2508427" cy="20739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50"/>
              </a:lnSpc>
            </a:pPr>
            <a:r>
              <a:rPr sz="900" spc="126">
                <a:solidFill>
                  <a:srgbClr val="0064B9"/>
                </a:solidFill>
                <a:latin typeface="IBM Plex Mono SemiBold"/>
                <a:cs typeface="IBM Plex Mono SemiBold"/>
                <a:ea typeface="IBM Plex Mono SemiBold"/>
              </a:rPr>
              <a:t>НЕМЕН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33459" y="2845054"/>
            <a:ext cx="2508427" cy="69494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Қосымша жауап журналын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жүргізіп, кесте жүктейді — қолмен</a:t>
            </a:r>
          </a:p>
          <a:p>
            <a:pPr algn="l">
              <a:lnSpc>
                <a:spcPts val="1600"/>
              </a:lnSpc>
            </a:pPr>
            <a:r>
              <a:rPr sz="1100">
                <a:solidFill>
                  <a:srgbClr val="1B222B"/>
                </a:solidFill>
                <a:latin typeface="GQ Text"/>
                <a:cs typeface="GQ Text"/>
                <a:ea typeface="GQ Text"/>
              </a:rPr>
              <a:t>санаудың қажеті жоқ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49808" y="3944366"/>
            <a:ext cx="10692079" cy="710247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24127" y="4143451"/>
            <a:ext cx="10143439" cy="345281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812"/>
              </a:lnSpc>
            </a:pPr>
            <a:r>
              <a:rPr sz="1250">
                <a:solidFill>
                  <a:srgbClr val="FFFFFF"/>
                </a:solidFill>
                <a:latin typeface="GQ Text SemiBold"/>
                <a:cs typeface="GQ Text SemiBold"/>
                <a:ea typeface="GQ Text SemiBold"/>
              </a:rPr>
              <a:t>Жеке деректер жиналмайды: журналда тек қатысушы белгісі, есімсіз.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222B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104202" y="1960626"/>
            <a:ext cx="4337684" cy="2651760"/>
          </a:xfrm>
          <a:prstGeom prst="rect">
            <a:avLst/>
          </a:prstGeom>
          <a:solidFill>
            <a:srgbClr val="11161E"/>
          </a:solidFill>
          <a:ln w="9525">
            <a:solidFill>
              <a:srgbClr val="3B434D"/>
            </a:solidFill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49808" y="1960626"/>
            <a:ext cx="6153226" cy="2440432"/>
          </a:xfrm>
          <a:prstGeom prst="rect">
            <a:avLst/>
          </a:prstGeom>
          <a:solidFill>
            <a:srgbClr val="0064B9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49808" y="475488"/>
            <a:ext cx="10692079" cy="7315"/>
          </a:xfrm>
          <a:prstGeom prst="rect">
            <a:avLst/>
          </a:prstGeom>
          <a:solidFill>
            <a:srgbClr val="3B434D"/>
          </a:solidFill>
          <a:ln>
            <a:noFill/>
          </a:ln>
          <a:effectLst/>
        </p:spPr>
        <p:txBody>
          <a:bodyPr rtlCol="0" anchor="ctr" wrap="none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49808" y="559308"/>
            <a:ext cx="7484455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ҚОРЫТЫНДЫ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914329" y="559308"/>
            <a:ext cx="618998" cy="18935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05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18 / 18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49808" y="786505"/>
            <a:ext cx="10692079" cy="810447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4494"/>
              </a:lnSpc>
            </a:pPr>
            <a:r>
              <a:rPr sz="4200" spc="-92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Не расталды және не істеу керек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7" y="2212594"/>
            <a:ext cx="5604586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ҚОРЫТЫНДЫ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7" y="2488438"/>
            <a:ext cx="5604586" cy="1720850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Болжам расталды: басты кедергі қазақ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тілінің қиындығы емес, техникалық бөгеттер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болып шықты. Оларды алып тастауға болды,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әрі бірде-бірі тілдің өзін жеңілдетуді талап</a:t>
            </a:r>
          </a:p>
          <a:p>
            <a:pPr algn="l">
              <a:lnSpc>
                <a:spcPts val="2500"/>
              </a:lnSpc>
            </a:pPr>
            <a:r>
              <a:rPr sz="1900" spc="-34">
                <a:solidFill>
                  <a:srgbClr val="EEEBE5"/>
                </a:solidFill>
                <a:latin typeface="GQ Text Bold"/>
                <a:cs typeface="GQ Text Bold"/>
                <a:ea typeface="GQ Text Bold"/>
              </a:rPr>
              <a:t>етпеді.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78522" y="2212594"/>
            <a:ext cx="3789045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136">
                <a:solidFill>
                  <a:srgbClr val="59AAF8"/>
                </a:solidFill>
                <a:latin typeface="IBM Plex Mono SemiBold"/>
                <a:cs typeface="IBM Plex Mono SemiBold"/>
                <a:ea typeface="IBM Plex Mono SemiBold"/>
              </a:rPr>
              <a:t>ӘРІ ҚАРАЙ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78522" y="252623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589088" y="2526233"/>
            <a:ext cx="3578479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Негізгі курсты қазақ тілі мұғалімінің тексеруі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78522" y="285897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589088" y="285897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Сыныпта сынақтан өткізу және жоспардың орнына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нақты сандар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8522" y="338729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589088" y="338729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Дыбыстау: 589 сөз тіркесі, әрқайсысы өз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дауысымен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78522" y="3915613"/>
            <a:ext cx="210566" cy="27772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59AAF8"/>
                </a:solidFill>
                <a:latin typeface="IBM Plex Mono Medium"/>
                <a:cs typeface="IBM Plex Mono Medium"/>
                <a:ea typeface="IBM Plex Mono Medium"/>
              </a:rPr>
              <a:t>—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589088" y="3915613"/>
            <a:ext cx="3578479" cy="473303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Ашық қолжетімділік: қосымша тегін және сілтеме</a:t>
            </a:r>
          </a:p>
          <a:p>
            <a:pPr algn="l">
              <a:lnSpc>
                <a:spcPts val="1540"/>
              </a:lnSpc>
            </a:pPr>
            <a:r>
              <a:rPr sz="1100">
                <a:solidFill>
                  <a:srgbClr val="EEEBE5"/>
                </a:solidFill>
                <a:latin typeface="GQ Text"/>
                <a:cs typeface="GQ Text"/>
                <a:ea typeface="GQ Text"/>
              </a:rPr>
              <a:t>арқылы жұмыс істейді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8" y="6323584"/>
            <a:ext cx="10692079" cy="198374"/>
          </a:xfrm>
          <a:prstGeom prst="rect">
            <a:avLst/>
          </a:prstGeom>
          <a:noFill/>
        </p:spPr>
        <p:txBody>
          <a:bodyPr wrap="none" lIns="0" rIns="0" tIns="0" bIns="0" anchor="t">
            <a:spAutoFit/>
          </a:bodyPr>
          <a:lstStyle/>
          <a:p>
            <a:pPr algn="l">
              <a:lnSpc>
                <a:spcPts val="1100"/>
              </a:lnSpc>
            </a:pPr>
            <a:r>
              <a:rPr sz="850" spc="85">
                <a:solidFill>
                  <a:srgbClr val="A6ADB6"/>
                </a:solidFill>
                <a:latin typeface="IBM Plex Mono Medium"/>
                <a:cs typeface="IBM Plex Mono Medium"/>
                <a:ea typeface="IBM Plex Mono Medium"/>
              </a:rPr>
              <a:t>GRAMMARQUEST-WEB.VERCEL.APP  ·  ФАМИЛИЯ ИМЯ · __ СЫНЫП · №__ МЕКТЕП, ____ ҚАЛАСЫ · ҒЫЛЫМИ ЖЕТЕКШІ: ____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