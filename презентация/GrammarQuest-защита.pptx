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Меня зовут [имя], я учусь в [класс].</a:t>
            </a:r>
          </a:p>
          <a:p/>
          <a:p>
            <a:r>
              <a:t>Мой проект начался с личного наблюдения: я пользовался приложениями для изучения</a:t>
            </a:r>
          </a:p>
          <a:p>
            <a:r>
              <a:t>казахского и всё время получал «неверно» там, где ответ был правильным.</a:t>
            </a:r>
          </a:p>
          <a:p>
            <a:r>
              <a:t>Я решил разобраться, почему так происходит, — и оказалось, что причина</a:t>
            </a:r>
          </a:p>
          <a:p>
            <a:r>
              <a:t>техническая, и её можно устранить.</a:t>
            </a:r>
          </a:p>
          <a:p/>
          <a:p>
            <a:r>
              <a:t>Держать 8–9 минут. На титуле не задерживаться дольше 30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Казахский обязателен в школе. Но тренажёра, где объяснение идёт по-русски,</a:t>
            </a:r>
          </a:p>
          <a:p>
            <a:r>
              <a:t>практически нет.</a:t>
            </a:r>
          </a:p>
          <a:p/>
          <a:p>
            <a:r>
              <a:t>Важно: я проверил список курсов Duolingo на их собственном сайте в день подготовки</a:t>
            </a:r>
          </a:p>
          <a:p>
            <a:r>
              <a:t>доклада и указал дату. Если жюри спросит — можно открыть сайт прямо сейчас.</a:t>
            </a:r>
          </a:p>
          <a:p/>
          <a:p>
            <a:r>
              <a:t>Не говорить «Duolingo плохой». Говорить: он рассчитан на языки с большой аудиторией,</a:t>
            </a:r>
          </a:p>
          <a:p>
            <a:r>
              <a:t>и это нормально. Ниша казахского остаётся незакрытой.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 слайда: я не стал сразу переделывать программу. Сначала —</a:t>
            </a:r>
          </a:p>
          <a:p>
            <a:r>
              <a:t>вопрос и гипотеза, потом проверка.</a:t>
            </a:r>
          </a:p>
          <a:p/>
          <a:p>
            <a:r>
              <a:t>Гипотеза сформулирована так, чтобы её можно было опровергнуть: если бы барьеры</a:t>
            </a:r>
          </a:p>
          <a:p>
            <a:r>
              <a:t>оказались не техническими, гипотеза бы не подтвердилась.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перечислять быстро, по одному предложению на каждую. Жюри читает само.</a:t>
            </a:r>
          </a:p>
          <a:p/>
          <a:p>
            <a:r>
              <a:t>Если спросят про объект и предмет — они внизу слайда, прочитать дословно.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слайд, который отличает научный проект от поделки. Подчеркнуть:</a:t>
            </a:r>
          </a:p>
          <a:p>
            <a:r>
              <a:t>я не «посмотрел и решил», а измерил.</a:t>
            </a:r>
          </a:p>
          <a:p/>
          <a:p>
            <a:r>
              <a:t>Ключевая фраза: «любой может запустить мои скрипты и получить те же числа».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главный слайд доклада. Здесь нужно сделать паузу.</a:t>
            </a:r>
          </a:p>
          <a:p/>
          <a:p>
            <a:r>
              <a:t>Хорошо работает живая демонстрация: показать на телефоне русскую клавиатуру</a:t>
            </a:r>
          </a:p>
          <a:p>
            <a:r>
              <a:t>и попросить кого-нибудь из жюри найти букву «қ».</a:t>
            </a:r>
          </a:p>
          <a:p/>
          <a:p>
            <a:r>
              <a:t>Число 168 из 187 получено скриптом, не на глаз.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жюри обычно оживляется: дефект неочевидный.</a:t>
            </a:r>
          </a:p>
          <a:p/>
          <a:p>
            <a:r>
              <a:t>Объяснить простыми словами: в файле шрифта есть список букв, которые он умеет</a:t>
            </a:r>
          </a:p>
          <a:p>
            <a:r>
              <a:t>рисовать. Если буквы в списке нет, браузер берёт её из другого шрифта.</a:t>
            </a:r>
          </a:p>
          <a:p>
            <a:r>
              <a:t>Текст читается, но выглядит как склейка из двух почерков.</a:t>
            </a:r>
          </a:p>
          <a:p/>
          <a:p>
            <a:r>
              <a:t>Если спросят, как нашёл: прочитал таблицу cmap — это оглавление шрифта.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контраст «было — стало», прочитать вслух левую колонку.</a:t>
            </a:r>
          </a:p>
          <a:p>
            <a:r>
              <a:t>Обычно этого достаточно, чтобы стало смешно и понятно одновременно.</a:t>
            </a:r>
          </a:p>
          <a:p/>
          <a:p>
            <a:r>
              <a:t>Объём: 151 тысяча знаков — это примерно три школьных сочинения в день</a:t>
            </a:r>
          </a:p>
          <a:p>
            <a:r>
              <a:t>в течение месяца. Такой ориентир помогает почувствовать масштаб.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зачитывать все шесть. Выбрать два самых понятных — про приставки</a:t>
            </a:r>
          </a:p>
          <a:p>
            <a:r>
              <a:t>и про «бес кітап».</a:t>
            </a:r>
          </a:p>
          <a:p/>
          <a:p>
            <a:r>
              <a:t>Важная мысль для жюри: я не стал молча править учебный материал.</a:t>
            </a:r>
          </a:p>
          <a:p>
            <a:r>
              <a:t>Каждое изменение записано вместе с обоснованием, чтобы учитель мог</a:t>
            </a:r>
          </a:p>
          <a:p>
            <a:r>
              <a:t>проверить и не согласиться.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важно подчеркнуть баланс: проверка стала мягче к опечаткам,</a:t>
            </a:r>
          </a:p>
          <a:p>
            <a:r>
              <a:t>но не стала мягче к грамматике.</a:t>
            </a:r>
          </a:p>
          <a:p/>
          <a:p>
            <a:r>
              <a:t>Если спросят «а не будет ли она засчитывать неправильное» — ответ:</a:t>
            </a:r>
          </a:p>
          <a:p>
            <a:r>
              <a:t>короткие слова опечаток не прощают вовсе, «тұр» и «тұт» не сольются,</a:t>
            </a:r>
          </a:p>
          <a:p>
            <a:r>
              <a:t>и на это есть отдельный тест.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здесь: варианты ответа не случайные. Неверный вариант — это</a:t>
            </a:r>
          </a:p>
          <a:p>
            <a:r>
              <a:t>реальная форма того же глагола, только в другом лице или времени.</a:t>
            </a:r>
          </a:p>
          <a:p>
            <a:r>
              <a:t>Именно такие ошибки ученик и делает в жизни.</a:t>
            </a:r>
          </a:p>
          <a:p/>
          <a:p>
            <a:r>
              <a:t>Пример на слайде можно прочитать вслух: ішемін — ішесің — ішеміз.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 интервальное повторение сказать одним предложением: это известный</a:t>
            </a:r>
          </a:p>
          <a:p>
            <a:r>
              <a:t>метод, я применил его упрощённый вариант — алгоритм SM-2.</a:t>
            </a:r>
          </a:p>
          <a:p/>
          <a:p>
            <a:r>
              <a:t>Если спросят, откуда метод: он описан в работах по психологии памяти,</a:t>
            </a:r>
          </a:p>
          <a:p>
            <a:r>
              <a:t>кривая забывания Эббингауза. Я не изобретал его, а применил.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ЖИВАЯ ДЕМОНСТРАЦИЯ. Отрепетировать до автоматизма, уложиться в 60–90 секунд.</a:t>
            </a:r>
          </a:p>
          <a:p/>
          <a:p>
            <a:r>
              <a:t>Обязательно проверить накануне:</a:t>
            </a:r>
          </a:p>
          <a:p>
            <a:r>
              <a:t>— приложение установлено на телефон и открывается;</a:t>
            </a:r>
          </a:p>
          <a:p>
            <a:r>
              <a:t>— заряд телефона;</a:t>
            </a:r>
          </a:p>
          <a:p>
            <a:r>
              <a:t>— если показ через проектор — светлая тема включена, она читается лучше.</a:t>
            </a:r>
          </a:p>
          <a:p/>
          <a:p>
            <a:r>
              <a:t>Не показывать больше четырёх шагов: жюри устаёт.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жюри спросит, почему не в Google Play: публикация требует платного</a:t>
            </a:r>
          </a:p>
          <a:p>
            <a:r>
              <a:t>аккаунта разработчика и проверки в несколько дней. Для школьного проекта</a:t>
            </a:r>
          </a:p>
          <a:p>
            <a:r>
              <a:t>установка по ссылке решает ту же задачу, а сборка полностью автоматическая.</a:t>
            </a:r>
          </a:p>
          <a:p/>
          <a:p>
            <a:r>
              <a:t>Про офлайн сказать обязательно — в сельской школе это решающий довод.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 СКАЗАТЬ: на момент защиты апробация ещё не проведена — это план</a:t>
            </a:r>
          </a:p>
          <a:p>
            <a:r>
              <a:t>эксперимента, а не результаты.</a:t>
            </a:r>
          </a:p>
          <a:p/>
          <a:p>
            <a:r>
              <a:t>Если апробация к защите пройдена, заменить этот слайд на реальные числа:</a:t>
            </a:r>
          </a:p>
          <a:p>
            <a:r>
              <a:t>средний балл до и после, точность по типам заданий, отзывы.</a:t>
            </a:r>
          </a:p>
          <a:p/>
          <a:p>
            <a:r>
              <a:t>Если жюри спросит «а есть результаты?» — ответ прямой: «Пока нет.</a:t>
            </a:r>
          </a:p>
          <a:p>
            <a:r>
              <a:t>Инструмент сбора данных встроен, протокол готов, эксперимент занимает</a:t>
            </a:r>
          </a:p>
          <a:p>
            <a:r>
              <a:t>семь учебных дней». Это лучше, чем придуманные проценты.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— для вопроса «сам ли ты это писал».</a:t>
            </a:r>
          </a:p>
          <a:p/>
          <a:p>
            <a:r>
              <a:t>Отвечать спокойно и конкретно: рассказать, что делает каждый инструмент,</a:t>
            </a:r>
          </a:p>
          <a:p>
            <a:r>
              <a:t>и показать любой файл в коде на выбор жюри. Тот, кто разбирался в проекте,</a:t>
            </a:r>
          </a:p>
          <a:p>
            <a:r>
              <a:t>объяснит устройство; тот, кто не разбирался, — нет.</a:t>
            </a:r>
          </a:p>
          <a:p/>
          <a:p>
            <a:r>
              <a:t>Хорошо иметь наготове ответ, что именно было труднее всего.</a:t>
            </a:r>
          </a:p>
          <a:p>
            <a:r>
              <a:t>У меня это правила казахской морфологии для генерации вариантов ответа.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Выводы читать медленно. Это последнее, что запомнит жюри.</a:t>
            </a:r>
          </a:p>
          <a:p/>
          <a:p>
            <a:r>
              <a:t>Третий вывод — самый ценный с научной точки зрения: метод переносится</a:t>
            </a:r>
          </a:p>
          <a:p>
            <a:r>
              <a:t>на другие приложения. Если будет вопрос «в чём новизна», отвечать отсюда.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Сказать одно предложение и остановиться — дальше вопросы.</a:t>
            </a:r>
          </a:p>
          <a:p/>
          <a:p>
            <a:r>
              <a:t>Готовые ответы на частые вопросы:</a:t>
            </a:r>
          </a:p>
          <a:p>
            <a:r>
              <a:t>— «Чем лучше Duolingo?» → Там нет казахского для русскоязычных, я проверял на их сайте.</a:t>
            </a:r>
          </a:p>
          <a:p>
            <a:r>
              <a:t>— «Сам писал?» → Показать код, объяснить любой файл на выбор.</a:t>
            </a:r>
          </a:p>
          <a:p>
            <a:r>
              <a:t>— «Есть результаты на учениках?» → Пока нет, эксперимент спланирован, занимает 7 дней.</a:t>
            </a:r>
          </a:p>
          <a:p>
            <a:r>
              <a:t>— «Кто проверял грамматику?» → Каждое исправление записано с обоснованием, готов показать журнал.</a:t>
            </a:r>
          </a:p>
          <a:p>
            <a:r>
              <a:t>— «Сколько стоит?» → Ничего: работает офлайн, сервер не нужен.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598010"/>
            <a:ext cx="18288" cy="3588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808" y="1619348"/>
            <a:ext cx="18288" cy="3374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1809" y="1594436"/>
            <a:ext cx="18288" cy="3623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809" y="1608191"/>
            <a:ext cx="18288" cy="34862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3810" y="1529369"/>
            <a:ext cx="18288" cy="4274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811" y="1418028"/>
            <a:ext cx="18288" cy="5387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5811" y="1364082"/>
            <a:ext cx="18288" cy="5927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812" y="1420124"/>
            <a:ext cx="18288" cy="5366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812" y="1330953"/>
            <a:ext cx="18288" cy="62586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8813" y="1294751"/>
            <a:ext cx="18288" cy="6620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9814" y="1434151"/>
            <a:ext cx="18288" cy="5226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4" y="1464060"/>
            <a:ext cx="18288" cy="4927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1815" y="1384227"/>
            <a:ext cx="18288" cy="5725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02815" y="1452109"/>
            <a:ext cx="18288" cy="50470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816" y="1373048"/>
            <a:ext cx="18288" cy="5837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4817" y="1211104"/>
            <a:ext cx="18288" cy="7457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5817" y="1350682"/>
            <a:ext cx="18288" cy="6061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6818" y="1497221"/>
            <a:ext cx="18288" cy="4595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7818" y="1314420"/>
            <a:ext cx="18288" cy="64239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8819" y="1521899"/>
            <a:ext cx="18288" cy="434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9820" y="1362324"/>
            <a:ext cx="18288" cy="5944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820" y="1588192"/>
            <a:ext cx="18288" cy="3686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1821" y="1402593"/>
            <a:ext cx="18288" cy="55422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2821" y="1608379"/>
            <a:ext cx="18288" cy="34843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3822" y="1730438"/>
            <a:ext cx="18288" cy="2263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74822" y="1493390"/>
            <a:ext cx="18288" cy="463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5823" y="1699963"/>
            <a:ext cx="18288" cy="25685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36824" y="1696659"/>
            <a:ext cx="18288" cy="26015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824" y="1730617"/>
            <a:ext cx="18288" cy="22619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98825" y="1510085"/>
            <a:ext cx="18288" cy="4467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9826" y="1813300"/>
            <a:ext cx="18288" cy="1435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0826" y="1569376"/>
            <a:ext cx="18288" cy="38743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41827" y="1794924"/>
            <a:ext cx="18288" cy="161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2827" y="1658064"/>
            <a:ext cx="18288" cy="29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3828" y="1468577"/>
            <a:ext cx="18288" cy="48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4829" y="1461255"/>
            <a:ext cx="18288" cy="4955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5829" y="1709298"/>
            <a:ext cx="18288" cy="24751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6830" y="1355960"/>
            <a:ext cx="18288" cy="600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27830" y="1544210"/>
            <a:ext cx="18288" cy="4126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08831" y="1401750"/>
            <a:ext cx="18288" cy="55506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89832" y="1456169"/>
            <a:ext cx="18288" cy="5006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70832" y="1567346"/>
            <a:ext cx="18288" cy="3894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51833" y="1530165"/>
            <a:ext cx="18288" cy="4266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2833" y="1502882"/>
            <a:ext cx="18288" cy="4539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13834" y="1310327"/>
            <a:ext cx="18288" cy="646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4835" y="1262769"/>
            <a:ext cx="18288" cy="6940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75835" y="1090870"/>
            <a:ext cx="18288" cy="8659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56836" y="1263430"/>
            <a:ext cx="18288" cy="6933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37836" y="1400128"/>
            <a:ext cx="18288" cy="5566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18837" y="1297107"/>
            <a:ext cx="18288" cy="6597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99838" y="1243918"/>
            <a:ext cx="18288" cy="71289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0838" y="1323396"/>
            <a:ext cx="18288" cy="63341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61839" y="1415333"/>
            <a:ext cx="18288" cy="5414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42839" y="1463824"/>
            <a:ext cx="18288" cy="4929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3840" y="1341278"/>
            <a:ext cx="18288" cy="615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04841" y="1286603"/>
            <a:ext cx="18288" cy="67021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5841" y="1483721"/>
            <a:ext cx="18288" cy="4730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6842" y="1304075"/>
            <a:ext cx="18288" cy="65274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7842" y="1399302"/>
            <a:ext cx="18288" cy="55751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8843" y="1728712"/>
            <a:ext cx="18288" cy="22810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09844" y="1493407"/>
            <a:ext cx="18288" cy="463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90844" y="1744130"/>
            <a:ext cx="18288" cy="2126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71845" y="1748236"/>
            <a:ext cx="18288" cy="208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52845" y="1829390"/>
            <a:ext cx="18288" cy="127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33846" y="1885589"/>
            <a:ext cx="18288" cy="7122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4847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5847" y="1818427"/>
            <a:ext cx="18288" cy="1383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6848" y="1720456"/>
            <a:ext cx="18288" cy="2363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57848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38849" y="1692656"/>
            <a:ext cx="18288" cy="2641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19850" y="1850924"/>
            <a:ext cx="18288" cy="105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00850" y="1676557"/>
            <a:ext cx="18288" cy="2802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1851" y="1739854"/>
            <a:ext cx="18288" cy="2169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62851" y="1701269"/>
            <a:ext cx="18288" cy="2555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852" y="1744357"/>
            <a:ext cx="18288" cy="2124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24853" y="1759407"/>
            <a:ext cx="18288" cy="197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05853" y="1844397"/>
            <a:ext cx="18288" cy="11241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86854" y="1672198"/>
            <a:ext cx="18288" cy="28461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67854" y="1627592"/>
            <a:ext cx="18288" cy="3292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148855" y="1465395"/>
            <a:ext cx="18288" cy="4914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29856" y="1707900"/>
            <a:ext cx="18288" cy="24891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10856" y="1606069"/>
            <a:ext cx="18288" cy="35074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91857" y="1450799"/>
            <a:ext cx="18288" cy="50601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72857" y="1544475"/>
            <a:ext cx="18288" cy="4123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53858" y="1443775"/>
            <a:ext cx="18288" cy="5130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34859" y="1453188"/>
            <a:ext cx="18288" cy="5036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15859" y="1481791"/>
            <a:ext cx="18288" cy="47502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96860" y="1396709"/>
            <a:ext cx="18288" cy="56010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77860" y="1286242"/>
            <a:ext cx="18288" cy="67057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58861" y="1317274"/>
            <a:ext cx="18288" cy="63954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9862" y="1413375"/>
            <a:ext cx="18288" cy="5434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20862" y="1486655"/>
            <a:ext cx="18288" cy="47016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1863" y="1329392"/>
            <a:ext cx="18288" cy="6274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82863" y="1565288"/>
            <a:ext cx="18288" cy="3915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63864" y="1408519"/>
            <a:ext cx="18288" cy="54829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44865" y="1638681"/>
            <a:ext cx="18288" cy="31813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25865" y="1560024"/>
            <a:ext cx="18288" cy="3967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06866" y="1618064"/>
            <a:ext cx="18288" cy="33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7866" y="1541446"/>
            <a:ext cx="18288" cy="4153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8867" y="1541226"/>
            <a:ext cx="18288" cy="415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9868" y="1755948"/>
            <a:ext cx="18288" cy="2008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30868" y="1742738"/>
            <a:ext cx="18288" cy="2140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11869" y="1723544"/>
            <a:ext cx="18288" cy="23327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92869" y="1723236"/>
            <a:ext cx="18288" cy="233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73870" y="1784781"/>
            <a:ext cx="18288" cy="17203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54871" y="1660919"/>
            <a:ext cx="18288" cy="29589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35871" y="1796724"/>
            <a:ext cx="18288" cy="1600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6872" y="1727960"/>
            <a:ext cx="18288" cy="228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97872" y="1796204"/>
            <a:ext cx="18288" cy="1606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78873" y="1686278"/>
            <a:ext cx="18288" cy="270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59874" y="1852556"/>
            <a:ext cx="18288" cy="1042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40874" y="1845226"/>
            <a:ext cx="18288" cy="111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21875" y="1831868"/>
            <a:ext cx="18288" cy="12494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02875" y="1806327"/>
            <a:ext cx="18288" cy="150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83876" y="1700270"/>
            <a:ext cx="18288" cy="2565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64877" y="1661485"/>
            <a:ext cx="18288" cy="2953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45877" y="1769816"/>
            <a:ext cx="18288" cy="18699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26878" y="1761057"/>
            <a:ext cx="18288" cy="1957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07878" y="1729692"/>
            <a:ext cx="18288" cy="2271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88879" y="1628577"/>
            <a:ext cx="18288" cy="32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69880" y="1740249"/>
            <a:ext cx="18288" cy="2165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50880" y="1599449"/>
            <a:ext cx="18288" cy="3573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31881" y="1617542"/>
            <a:ext cx="18288" cy="33927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712881" y="1695899"/>
            <a:ext cx="18288" cy="260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793882" y="1666652"/>
            <a:ext cx="18288" cy="29016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874883" y="1629378"/>
            <a:ext cx="18288" cy="3274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955883" y="1623677"/>
            <a:ext cx="18288" cy="3331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84" y="1658465"/>
            <a:ext cx="18288" cy="298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17884" y="1602222"/>
            <a:ext cx="18288" cy="35459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198885" y="1703548"/>
            <a:ext cx="18288" cy="2532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79886" y="1652170"/>
            <a:ext cx="18288" cy="3046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60886" y="1660421"/>
            <a:ext cx="18288" cy="2963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9808" y="1956816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9808" y="2116328"/>
            <a:ext cx="10692079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180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НАУЧНЫЙ ПРОЕКТ · КАЗАХСТАН · 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2499116"/>
            <a:ext cx="10692079" cy="1030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5600" spc="-157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Почему тренажёры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9808" y="3224540"/>
            <a:ext cx="10692079" cy="1030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5600" spc="-157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казахского не работают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4297680"/>
            <a:ext cx="7484455" cy="6454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Исследование причин и разработка приложения GrammarQuest —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тренажёра казахской грамматики для русскоязычных школьников.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9808" y="5230368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49808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УРОКОВ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00551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187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00551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ЗАДАНИЙ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51295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51295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ТИПОВ УПРАЖНЕНИЙ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02039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02039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ОТВЕТОВ ТРЕБУЮТ ОСОБЫХ БУКВ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6B727B"/>
                </a:solidFill>
                <a:latin typeface="IBM Plex Mono Medium"/>
                <a:cs typeface="IBM Plex Mono Medium"/>
                <a:ea typeface="IBM Plex Mono Medium"/>
              </a:rPr>
              <a:t>ФАМИЛИЯ ИМЯ · __ КЛАСС · ШКОЛА №__, Г. ____ · НАУЧНЫЙ РУКОВОДИТЕЛЬ: 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2946400"/>
            <a:ext cx="5245455" cy="14630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46400"/>
            <a:ext cx="5245455" cy="17551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946400"/>
            <a:ext cx="32004" cy="1755139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Казахскому учат, но учить его на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компьютере почти нечем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9381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Казахский язык изучают во всех школах Казахстана, в том числе там, где обучение идёт на русском. При этом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цифровых тренажёров, рассчитанных именно на русскоязычного ученика, крайне мало.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745232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82112"/>
            <a:ext cx="4733391" cy="13078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На duolingo.com в разделе курсов для говорящих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по-русски доступно девять языков: английский,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немецкий, французский, испанский, китайский,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корейский, японский, итальянский, португальский.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Казахского в этом списке нет.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2463" y="3184144"/>
            <a:ext cx="4733391" cy="1010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Значит, школьнику остаются учебник и тетрадь. Между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тем ежедневная короткая практика по 10–15 минут —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именно то, что даёт язык, и именно то, что удобно делать с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телефона.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Источник: duolingo.com/courses, раздел «Курсы для тех, кто знает русский». Проверено 25.08.2026.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4202" y="2919476"/>
            <a:ext cx="4337684" cy="1799843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19476"/>
            <a:ext cx="6153226" cy="225704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ПРОБЛЕМА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9551"/>
            <a:ext cx="10692079" cy="11838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52"/>
              </a:lnSpc>
            </a:pPr>
            <a:r>
              <a:rPr sz="3600" spc="-79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Существующая программа была. Она не</a:t>
            </a:r>
          </a:p>
          <a:p>
            <a:pPr algn="l">
              <a:lnSpc>
                <a:spcPts val="3852"/>
              </a:lnSpc>
            </a:pPr>
            <a:r>
              <a:rPr sz="3600" spc="-79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работала — и я хотел понять почему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55881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 меня уже была написанная ранее версия тренажёра. Ученики бросали её через несколько заданий. Вместо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того чтобы переписывать наугад, я поставил вопрос как исследовательский.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3171444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ВОПРОС 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422904"/>
            <a:ext cx="5604586" cy="157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100" spc="-3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Что именно мешает русскоязычному</a:t>
            </a:r>
          </a:p>
          <a:p>
            <a:pPr algn="l">
              <a:lnSpc>
                <a:spcPts val="2800"/>
              </a:lnSpc>
            </a:pPr>
            <a:r>
              <a:rPr sz="2100" spc="-3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школьнику заниматься казахским в</a:t>
            </a:r>
          </a:p>
          <a:p>
            <a:pPr algn="l">
              <a:lnSpc>
                <a:spcPts val="2800"/>
              </a:lnSpc>
            </a:pPr>
            <a:r>
              <a:rPr sz="2100" spc="-3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цифровом тренажёре — содержание,</a:t>
            </a:r>
          </a:p>
          <a:p>
            <a:pPr algn="l">
              <a:lnSpc>
                <a:spcPts val="2800"/>
              </a:lnSpc>
            </a:pPr>
            <a:r>
              <a:rPr sz="2100" spc="-3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интерфейс или что-то ещё?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8522" y="3171444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ГИПОТЕЗА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8522" y="3441192"/>
            <a:ext cx="3789045" cy="1066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Главное препятствие — не сложность языка,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а технические барьеры: ученик не может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физически ввести правильный ответ, а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объяснения написаны не про тот язык.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9743" y="2172335"/>
            <a:ext cx="2522143" cy="2386584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6431" y="2172335"/>
            <a:ext cx="2522143" cy="2386584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3119" y="2172335"/>
            <a:ext cx="2522143" cy="2386584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172335"/>
            <a:ext cx="2522143" cy="2386584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2172335"/>
            <a:ext cx="32004" cy="238658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ЦЕЛЬ 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986"/>
            <a:ext cx="10692079" cy="11016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84"/>
              </a:lnSpc>
            </a:pPr>
            <a:r>
              <a:rPr sz="3350" spc="-7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Цель: превратить нерабочий прототип в тренажёр,</a:t>
            </a:r>
          </a:p>
          <a:p>
            <a:pPr algn="l">
              <a:lnSpc>
                <a:spcPts val="3584"/>
              </a:lnSpc>
            </a:pPr>
            <a:r>
              <a:rPr sz="3350" spc="-7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которым можно пользоваться каждый день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06015"/>
            <a:ext cx="2010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6702"/>
            <a:ext cx="2010079" cy="3494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8"/>
              </a:lnSpc>
            </a:pPr>
            <a:r>
              <a:rPr sz="1700" spc="-3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Провести аудит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76930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3231" y="3076930"/>
            <a:ext cx="1802688" cy="6384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Разобрать существующую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программу: код, данные,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интерфейс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6728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3231" y="3746728"/>
            <a:ext cx="1802688" cy="6384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Зафиксировать каждый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найденный дефект с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доказательством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9151" y="2406015"/>
            <a:ext cx="2010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9151" y="2656702"/>
            <a:ext cx="2010079" cy="595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8"/>
              </a:lnSpc>
            </a:pPr>
            <a:r>
              <a:rPr sz="1700" spc="-3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Устранить</a:t>
            </a:r>
          </a:p>
          <a:p>
            <a:pPr algn="l">
              <a:lnSpc>
                <a:spcPts val="1938"/>
              </a:lnSpc>
            </a:pPr>
            <a:r>
              <a:rPr sz="1700" spc="-3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барьеры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9151" y="3323056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6542" y="3323056"/>
            <a:ext cx="1802688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Переработать проверку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ответов и типы заданий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3806164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6542" y="3806164"/>
            <a:ext cx="1802688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Исправить учебное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содержание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2463" y="2406015"/>
            <a:ext cx="2010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2463" y="2656702"/>
            <a:ext cx="2010079" cy="595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8"/>
              </a:lnSpc>
            </a:pPr>
            <a:r>
              <a:rPr sz="1700" spc="-3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Довести до</a:t>
            </a:r>
          </a:p>
          <a:p>
            <a:pPr algn="l">
              <a:lnSpc>
                <a:spcPts val="1938"/>
              </a:lnSpc>
            </a:pPr>
            <a:r>
              <a:rPr sz="1700" spc="-3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устройства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2463" y="3323056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9854" y="3323056"/>
            <a:ext cx="1802688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Собрать мобильное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приложение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3806164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9854" y="3806164"/>
            <a:ext cx="1802688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Обеспечить работу без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интернета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5775" y="2406015"/>
            <a:ext cx="2010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5775" y="2656702"/>
            <a:ext cx="2010079" cy="595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38"/>
              </a:lnSpc>
            </a:pPr>
            <a:r>
              <a:rPr sz="1700" spc="-3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Проверить на</a:t>
            </a:r>
          </a:p>
          <a:p>
            <a:pPr algn="l">
              <a:lnSpc>
                <a:spcPts val="1938"/>
              </a:lnSpc>
            </a:pPr>
            <a:r>
              <a:rPr sz="1700" spc="-3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учениках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5775" y="3323056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3166" y="3323056"/>
            <a:ext cx="1802688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Спланировать апробацию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5775" y="3619474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3166" y="3619474"/>
            <a:ext cx="1802688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Встроить в приложение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сбор данных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814951"/>
            <a:ext cx="10692079" cy="9220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7" y="5015509"/>
            <a:ext cx="10143439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Объект исследования — </a:t>
            </a:r>
            <a:r>
              <a:rPr sz="120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 процесс самостоятельного изучения казахской грамматики русскоязычным школьником. </a:t>
            </a: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 Предмет — </a:t>
            </a:r>
          </a:p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технические и содержательные барьеры, которые этот процесс останавливают.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1972" y="2186432"/>
            <a:ext cx="3429914" cy="2846070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1972" y="2186432"/>
            <a:ext cx="32004" cy="2846070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0890" y="2186432"/>
            <a:ext cx="3429914" cy="2846070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0890" y="2186432"/>
            <a:ext cx="32004" cy="284607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2186432"/>
            <a:ext cx="3429914" cy="2846070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" y="2186432"/>
            <a:ext cx="32004" cy="2846070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МЕТОДИКА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7332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Как я искал причины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3855"/>
            <a:ext cx="8339821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Я применил три метода, каждый даёт проверяемый результат, а не мнение.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1128"/>
            <a:ext cx="291785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793D"/>
                </a:solidFill>
                <a:latin typeface="IBM Plex Mono SemiBold"/>
                <a:cs typeface="IBM Plex Mono SemiBold"/>
                <a:ea typeface="IBM Plex Mono SemiBold"/>
              </a:rPr>
              <a:t>МЕТОД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9816"/>
            <a:ext cx="2917850" cy="665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Сплошной анализ</a:t>
            </a:r>
          </a:p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7003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793D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3231" y="3407003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Разобрал все 187 заданий программой,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а не глазами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90111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793D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3231" y="3890111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Посчитал, в скольких ответах есть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буквы вне русской раскладки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3219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793D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3231" y="4373219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Результат — число, которое можно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перепроверить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2421128"/>
            <a:ext cx="291785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МЕТОД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2659816"/>
            <a:ext cx="2917850" cy="665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Проверка шрифтов по</a:t>
            </a:r>
          </a:p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таблице глифов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3407003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4313" y="3407003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Скачал файлы шрифтов и прочитал их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таблицы символов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922" y="3890111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4313" y="3890111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Проверил наличие девяти казахских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букв в каждом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922" y="4373219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4313" y="4373219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Результат — список отсутствующих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глифов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8004" y="2421128"/>
            <a:ext cx="291785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7F5400"/>
                </a:solidFill>
                <a:latin typeface="IBM Plex Mono SemiBold"/>
                <a:cs typeface="IBM Plex Mono SemiBold"/>
                <a:ea typeface="IBM Plex Mono SemiBold"/>
              </a:rPr>
              <a:t>МЕТОД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8004" y="2659816"/>
            <a:ext cx="2917850" cy="665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Экспертная сверка</a:t>
            </a:r>
          </a:p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содержания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8004" y="3407003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7F5400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5395" y="3407003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Сверил каждое правило с грамматикой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казахского языка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8004" y="3890111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7F5400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5395" y="3890111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Каждое исправление записал с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обоснованием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8004" y="4373219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7F5400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5395" y="4373219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Результат — журнал из 46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задокументированных правок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Все три метода воспроизводимы: скрипты анализа лежат в репозитории проекта и запускаются одной командой.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РЕЗУЛЬТАТ · НАХОДКА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7377"/>
            <a:ext cx="10692079" cy="1216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700" spc="-81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90% заданий требуют букв, которых нет на</a:t>
            </a:r>
          </a:p>
          <a:p>
            <a:pPr algn="l">
              <a:lnSpc>
                <a:spcPts val="3959"/>
              </a:lnSpc>
            </a:pPr>
            <a:r>
              <a:rPr sz="3700" spc="-81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клавиатуре ученика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3059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В казахском алфавите девять букв, которых нет в русском: ә ғ қ ң ө ұ ү һ і. На школьном компьютере и на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телефоне стоит русская раскладка — набрать их негде.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5287"/>
            <a:ext cx="2467279" cy="7069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sz="4000" spc="-12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28314"/>
            <a:ext cx="2467279" cy="22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spc="68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ИЗ 187 ЗАДАНИЙ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1407" y="2885287"/>
            <a:ext cx="2467279" cy="7069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sz="4000" spc="-12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407" y="3528314"/>
            <a:ext cx="2467279" cy="22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spc="68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ВСЕХ ОТВЕТОВ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885287"/>
            <a:ext cx="2467279" cy="7069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sz="4000" spc="-12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3528314"/>
            <a:ext cx="2467279" cy="22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spc="68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БУКВ ВНЕ РАСКЛАДКИ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4607" y="2885287"/>
            <a:ext cx="2467279" cy="7069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sz="4000" spc="-12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607" y="3528314"/>
            <a:ext cx="2467279" cy="2299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spc="68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СПОСОБОВ ИХ ВВЕСТИ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19023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07662"/>
            <a:ext cx="5245455" cy="825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Старая проверка сравнивала строки точно. Ученик писал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«окып жатырмын» — грамматически верно, просто без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казахских букв — и получал «неверно».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431" y="4409694"/>
            <a:ext cx="5245455" cy="781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Ученик делает вывод, что не понимает язык, хотя на самом деле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он не может дотянуться до буквы. Это и есть та точка, где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занятия бросают.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РЕЗУЛЬТАТ · НАХОДКА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1725"/>
            <a:ext cx="10692079" cy="675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sz="3500" spc="-77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Шрифт приложения не содержал казахских букв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53088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Я скачал файлы шрифтов, которые использовала программа, и прочитал их таблицы символов. Оказалось, что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часть букв в них просто отсутствует — и браузер молча подставлял чужой шрифт прямо в учебном тексте.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71953"/>
            <a:ext cx="4490673" cy="199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spc="119">
                <a:solidFill>
                  <a:srgbClr val="535C66"/>
                </a:solidFill>
                <a:latin typeface="IBM Plex Mono SemiBold"/>
                <a:cs typeface="IBM Plex Mono SemiBold"/>
                <a:ea typeface="IBM Plex Mono SemiBold"/>
              </a:rPr>
              <a:t>ШРИФТ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0481" y="2471953"/>
            <a:ext cx="3207623" cy="199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spc="119">
                <a:solidFill>
                  <a:srgbClr val="535C66"/>
                </a:solidFill>
                <a:latin typeface="IBM Plex Mono SemiBold"/>
                <a:cs typeface="IBM Plex Mono SemiBold"/>
                <a:ea typeface="IBM Plex Mono SemiBold"/>
              </a:rPr>
              <a:t>КАКИХ БУКВ 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8105" y="2471953"/>
            <a:ext cx="2993782" cy="199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spc="119">
                <a:solidFill>
                  <a:srgbClr val="535C66"/>
                </a:solidFill>
                <a:latin typeface="IBM Plex Mono SemiBold"/>
                <a:cs typeface="IBM Plex Mono SemiBold"/>
                <a:ea typeface="IBM Plex Mono SemiBold"/>
              </a:rPr>
              <a:t>ИТОГ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727578"/>
            <a:ext cx="10692079" cy="7315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67116"/>
            <a:ext cx="4490673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Manrope (основной текст)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0481" y="2867116"/>
            <a:ext cx="3207623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ә ғ қ ң 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8105" y="2867116"/>
            <a:ext cx="2993782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0064B9"/>
                </a:solidFill>
                <a:latin typeface="GQ Text SemiBold"/>
                <a:cs typeface="GQ Text SemiBold"/>
                <a:ea typeface="GQ Text SemiBold"/>
              </a:rPr>
              <a:t>5 из 9 отсутствуют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221354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360892"/>
            <a:ext cx="4490673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Playfair Display (заголовки)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0481" y="3360892"/>
            <a:ext cx="3207623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ә ғ қ ң ө ү 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8105" y="3360892"/>
            <a:ext cx="2993782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0064B9"/>
                </a:solidFill>
                <a:latin typeface="GQ Text SemiBold"/>
                <a:cs typeface="GQ Text SemiBold"/>
                <a:ea typeface="GQ Text SemiBold"/>
              </a:rPr>
              <a:t>7 из 9 отсутствуют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715130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54668"/>
            <a:ext cx="4490673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Golos Text (выбран взамен)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0481" y="3854668"/>
            <a:ext cx="3207623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8105" y="3854668"/>
            <a:ext cx="2993782" cy="2899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8"/>
              </a:lnSpc>
            </a:pPr>
            <a:r>
              <a:rPr sz="1200">
                <a:solidFill>
                  <a:srgbClr val="0064B9"/>
                </a:solidFill>
                <a:latin typeface="GQ Text SemiBold"/>
                <a:cs typeface="GQ Text SemiBold"/>
                <a:ea typeface="GQ Text SemiBold"/>
              </a:rPr>
              <a:t>покрытие полное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208906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4592955"/>
            <a:ext cx="10692079" cy="94043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4792040"/>
            <a:ext cx="10143439" cy="57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Ученик видел казахские буквы в другом начертании и не мог этого объяснить. </a:t>
            </a: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 Дефект был невидим для разработчика: на</a:t>
            </a:r>
          </a:p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экране текст отображался, просто разными шрифтами. Найти его можно было только чтением таблицы глифов.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Проверка: библиотека fontTools, чтение таблицы cmap каждого файла шрифта. Скрипт в репозитории проекта.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6431" y="2919476"/>
            <a:ext cx="5245455" cy="227634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6431" y="2919476"/>
            <a:ext cx="32004" cy="2276348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919476"/>
            <a:ext cx="5245455" cy="207314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2919476"/>
            <a:ext cx="32004" cy="2073148"/>
          </a:xfrm>
          <a:prstGeom prst="rect">
            <a:avLst/>
          </a:prstGeom>
          <a:solidFill>
            <a:srgbClr val="BA1D2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РЕЗУЛЬТАТ · НАХОДКА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9551"/>
            <a:ext cx="10692079" cy="11838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52"/>
              </a:lnSpc>
            </a:pPr>
            <a:r>
              <a:rPr sz="3600" spc="-7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Русские объяснения описывали русскую</a:t>
            </a:r>
          </a:p>
          <a:p>
            <a:pPr algn="l">
              <a:lnSpc>
                <a:spcPts val="3852"/>
              </a:lnSpc>
            </a:pPr>
            <a:r>
              <a:rPr sz="3600" spc="-7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грамматику, а не казахскую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55881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 программе рядом с казахским текстом стоял русский. Я предполагал, что это перевод. При сплошной сверке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выяснилось, что это отдельный курс — про другой язык.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3153156"/>
            <a:ext cx="4696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BA1D27"/>
                </a:solidFill>
                <a:latin typeface="IBM Plex Mono SemiBold"/>
                <a:cs typeface="IBM Plex Mono SemiBold"/>
                <a:ea typeface="IBM Plex Mono SemiBold"/>
              </a:rPr>
              <a:t>БЫЛО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424936"/>
            <a:ext cx="4696815" cy="781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«Настоящее длительное время (Present Continuous) в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русском языке образуется с помощью действительного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причастия на -щий/-ащий…»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4279392"/>
            <a:ext cx="4696815" cy="491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35C66"/>
                </a:solidFill>
                <a:latin typeface="GQ Text Medium"/>
                <a:cs typeface="GQ Text Medium"/>
                <a:ea typeface="GQ Text Medium"/>
              </a:rPr>
              <a:t>Правило про русский язык, названное английским термином. В</a:t>
            </a:r>
          </a:p>
          <a:p>
            <a:pPr algn="l">
              <a:lnSpc>
                <a:spcPts val="1600"/>
              </a:lnSpc>
            </a:pPr>
            <a:r>
              <a:rPr sz="1100">
                <a:solidFill>
                  <a:srgbClr val="535C66"/>
                </a:solidFill>
                <a:latin typeface="GQ Text Medium"/>
                <a:cs typeface="GQ Text Medium"/>
                <a:ea typeface="GQ Text Medium"/>
              </a:rPr>
              <a:t>русском языке такого времени нет вовсе.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3153156"/>
            <a:ext cx="4696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00793D"/>
                </a:solidFill>
                <a:latin typeface="IBM Plex Mono SemiBold"/>
                <a:cs typeface="IBM Plex Mono SemiBold"/>
                <a:ea typeface="IBM Plex Mono SemiBold"/>
              </a:rPr>
              <a:t>СТАЛО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3424936"/>
            <a:ext cx="4696815" cy="781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«Настоящее время процесса (нақ осы шақ): основа глагола +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-ып/-іп/-п + вспомогательный глагол жатыр, отыр, тұр или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жүр.»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4279392"/>
            <a:ext cx="4696815" cy="6949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35C66"/>
                </a:solidFill>
                <a:latin typeface="GQ Text Medium"/>
                <a:cs typeface="GQ Text Medium"/>
                <a:ea typeface="GQ Text Medium"/>
              </a:rPr>
              <a:t>Правило про казахский язык, с примером и разбором.</a:t>
            </a:r>
          </a:p>
          <a:p>
            <a:pPr algn="l">
              <a:lnSpc>
                <a:spcPts val="1600"/>
              </a:lnSpc>
            </a:pPr>
            <a:r>
              <a:rPr sz="1100">
                <a:solidFill>
                  <a:srgbClr val="535C66"/>
                </a:solidFill>
                <a:latin typeface="GQ Text Medium"/>
                <a:cs typeface="GQ Text Medium"/>
                <a:ea typeface="GQ Text Medium"/>
              </a:rPr>
              <a:t>Переписано около 151 тысячи знаков в уроках, правилах и</a:t>
            </a:r>
          </a:p>
          <a:p>
            <a:pPr algn="l">
              <a:lnSpc>
                <a:spcPts val="1600"/>
              </a:lnSpc>
            </a:pPr>
            <a:r>
              <a:rPr sz="1100">
                <a:solidFill>
                  <a:srgbClr val="535C66"/>
                </a:solidFill>
                <a:latin typeface="GQ Text Medium"/>
                <a:cs typeface="GQ Text Medium"/>
                <a:ea typeface="GQ Text Medium"/>
              </a:rPr>
              <a:t>справочнике.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РЕЗУЛЬТАТ · НАХОДКА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7332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И 46 ошибок в самом учебном материале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3855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Сверяя правила с грамматикой казахского языка, я нашёл ошибки, которые учили неправильному. Каждую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исправил и записал обоснование — чтобы правку мог проверить учитель.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457450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52954"/>
            <a:ext cx="6153226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Страдательный залог назывался притяжательным падежом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202" y="2552954"/>
            <a:ext cx="4337684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9AAF8"/>
                </a:solidFill>
                <a:latin typeface="GQ Text"/>
                <a:cs typeface="GQ Text"/>
                <a:ea typeface="GQ Text"/>
              </a:rPr>
              <a:t>ырықсыз етіс, а не тәуелдік септік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02437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119882"/>
            <a:ext cx="6153226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Побудительный залог назывался «сезуші етіс»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202" y="3119882"/>
            <a:ext cx="4337684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9AAF8"/>
                </a:solidFill>
                <a:latin typeface="GQ Text"/>
                <a:cs typeface="GQ Text"/>
                <a:ea typeface="GQ Text"/>
              </a:rPr>
              <a:t>правильно — өзгелік етіс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591306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686809"/>
            <a:ext cx="6153226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Утверждалось, что -дай/-дей образует превосходную степень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202" y="3686809"/>
            <a:ext cx="4337684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9AAF8"/>
                </a:solidFill>
                <a:latin typeface="GQ Text"/>
                <a:cs typeface="GQ Text"/>
                <a:ea typeface="GQ Text"/>
              </a:rPr>
              <a:t>этот аффикс выражает уподобление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158234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53738"/>
            <a:ext cx="6153226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Утверждалось, что после числительного нужно множественное число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202" y="4253738"/>
            <a:ext cx="4337684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9AAF8"/>
                </a:solidFill>
                <a:latin typeface="GQ Text"/>
                <a:cs typeface="GQ Text"/>
                <a:ea typeface="GQ Text"/>
              </a:rPr>
              <a:t>в казахском — «бес кітап», единственное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725162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20666"/>
            <a:ext cx="6153226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Утверждалось, что в казахском есть приставки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202" y="4820666"/>
            <a:ext cx="4337684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9AAF8"/>
                </a:solidFill>
                <a:latin typeface="GQ Text"/>
                <a:cs typeface="GQ Text"/>
                <a:ea typeface="GQ Text"/>
              </a:rPr>
              <a:t>их нет: все аффиксы стоят после корня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5292090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387594"/>
            <a:ext cx="6153226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Несуществующие формы в ответах: «қайталанып», «әзірдеп», «мектепхана»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202" y="5387594"/>
            <a:ext cx="4337684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59AAF8"/>
                </a:solidFill>
                <a:latin typeface="GQ Text"/>
                <a:cs typeface="GQ Text"/>
                <a:ea typeface="GQ Text"/>
              </a:rPr>
              <a:t>заменены на реальные слова языка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585901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Полный журнал исправлений с обоснованием каждого — файл tools/corrections.json в репозитории проекта.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9743" y="2420874"/>
            <a:ext cx="2522143" cy="207187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6431" y="2420874"/>
            <a:ext cx="2522143" cy="207187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3119" y="2420874"/>
            <a:ext cx="2522143" cy="207187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2420874"/>
            <a:ext cx="2522143" cy="207187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РЕШЕНИЕ · ПРОВЕРКА ОТВЕТОВ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7332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Проверка ответов теперь понимает ученика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3855"/>
            <a:ext cx="8339821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Вместо точного сравнения строк — четыре слоя проверки. Ответ засчитывается, если верна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грамматика, а не набор символов.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37281"/>
            <a:ext cx="20466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СЛОЙ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64632"/>
            <a:ext cx="2046655" cy="328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Точное совпадение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30880"/>
            <a:ext cx="2046655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Ответ полностью совпал с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эталоном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863" y="2637281"/>
            <a:ext cx="20466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СЛОЙ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0863" y="2864632"/>
            <a:ext cx="2046655" cy="5605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Свёртка казахских</a:t>
            </a:r>
          </a:p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букв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0863" y="3462528"/>
            <a:ext cx="2046655" cy="842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«окып» и «оқып» считаются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одним ответом; ученику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показывается верное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написание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2637281"/>
            <a:ext cx="20466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СЛОЙ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2864632"/>
            <a:ext cx="2046655" cy="328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Допуск опечаток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3230880"/>
            <a:ext cx="2046655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Расстояние Левенштейна: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одна-две описки прощаются,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короткие слова — нет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7487" y="2637281"/>
            <a:ext cx="20466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СЛОЙ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487" y="2864632"/>
            <a:ext cx="2046655" cy="5605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Несколько верных</a:t>
            </a:r>
          </a:p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вариантов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487" y="3462528"/>
            <a:ext cx="2046655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Там, где язык допускает два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ответа, принимаются оба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748784"/>
            <a:ext cx="10692079" cy="94043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4947869"/>
            <a:ext cx="10143439" cy="57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Плюс экранный ряд казахских букв. </a:t>
            </a: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 Девять кнопок под полем ввода: ә ғ қ ң ө ұ ү һ і. Ученик может набрать правильный ответ</a:t>
            </a:r>
          </a:p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даже на школьном компьютере с русской раскладкой.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Движок проверки покрыт 16 автотестами: они проверяют и то, что верное засчитывается, и то, что неверное — нет.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11972" y="2457450"/>
            <a:ext cx="3429914" cy="2769870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11972" y="2457450"/>
            <a:ext cx="32004" cy="276987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РЕШЕНИЕ · ТИПЫ ЗАДАНИЙ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7332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Одно упражнение превратилось в семь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3855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 прежних данных ни у одного из 187 шагов не было указано тип задания, поэтому все они работали как «впиши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текст», а код остальных типов не выполнялся никогда.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8463"/>
            <a:ext cx="2566099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Заполни пропуск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0499" y="2457450"/>
            <a:ext cx="3029718" cy="274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0499" y="2457450"/>
            <a:ext cx="3029718" cy="2743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9945" y="2488463"/>
            <a:ext cx="868680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IBM Plex Mono SemiBold"/>
                <a:cs typeface="IBM Plex Mono SemiBold"/>
                <a:ea typeface="IBM Plex Mono SemiBold"/>
              </a:rPr>
              <a:t>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45663"/>
            <a:ext cx="2566099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Выбор верной формы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0499" y="2914650"/>
            <a:ext cx="3029718" cy="274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0499" y="2914650"/>
            <a:ext cx="2563607" cy="2743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9945" y="2945663"/>
            <a:ext cx="868680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IBM Plex Mono SemiBold"/>
                <a:cs typeface="IBM Plex Mono SemiBold"/>
                <a:ea typeface="IBM Plex Mono SemiBold"/>
              </a:rP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402863"/>
            <a:ext cx="2566099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Собери предложение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80499" y="3371850"/>
            <a:ext cx="3029718" cy="274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0499" y="3371850"/>
            <a:ext cx="1689650" cy="274320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9945" y="3402863"/>
            <a:ext cx="868680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IBM Plex Mono SemiBold"/>
                <a:cs typeface="IBM Plex Mono SemiBold"/>
                <a:ea typeface="IBM Plex Mono SemiBold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860063"/>
            <a:ext cx="2566099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Развёрнутый ответ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80499" y="3829050"/>
            <a:ext cx="3029718" cy="274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80499" y="3829050"/>
            <a:ext cx="1340067" cy="274320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9945" y="3860063"/>
            <a:ext cx="868680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IBM Plex Mono SemiBold"/>
                <a:cs typeface="IBM Plex Mono SemiBold"/>
                <a:ea typeface="IBM Plex Mono SemiBold"/>
              </a:rP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17263"/>
            <a:ext cx="2566099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Свободный ввод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0499" y="4286250"/>
            <a:ext cx="3029718" cy="274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80499" y="4286250"/>
            <a:ext cx="873957" cy="274320"/>
          </a:xfrm>
          <a:prstGeom prst="rect">
            <a:avLst/>
          </a:prstGeom>
          <a:solidFill>
            <a:srgbClr val="DDE4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9945" y="4317263"/>
            <a:ext cx="868680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IBM Plex Mono SemiBold"/>
                <a:cs typeface="IBM Plex Mono SemiBold"/>
                <a:ea typeface="IBM Plex Mono SemiBold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774463"/>
            <a:ext cx="2566099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Сопоставление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0499" y="4743450"/>
            <a:ext cx="3029718" cy="274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80499" y="4743450"/>
            <a:ext cx="757429" cy="274320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9945" y="4774463"/>
            <a:ext cx="868680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IBM Plex Mono SemiBold"/>
                <a:cs typeface="IBM Plex Mono SemiBold"/>
                <a:ea typeface="IBM Plex Mono SemiBold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231663"/>
            <a:ext cx="2566099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Перевод на казахский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0499" y="5200650"/>
            <a:ext cx="3029718" cy="274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80499" y="5200650"/>
            <a:ext cx="640901" cy="274320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9945" y="5231663"/>
            <a:ext cx="868680" cy="2578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30"/>
              </a:lnSpc>
            </a:pPr>
            <a:r>
              <a:rPr sz="1100">
                <a:solidFill>
                  <a:srgbClr val="1B222B"/>
                </a:solidFill>
                <a:latin typeface="IBM Plex Mono SemiBold"/>
                <a:cs typeface="IBM Plex Mono SemiBold"/>
                <a:ea typeface="IBM Plex Mono SemiBold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8004" y="2676906"/>
            <a:ext cx="2917850" cy="5532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5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Варианты ответа генерируются по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правилам казахской морфологии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8004" y="3305403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5395" y="3305403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Смена лица: ішемін / ішесің / ішеміз /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ішесіз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8004" y="3788511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5395" y="3788511"/>
            <a:ext cx="2710459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Смена времени: келді / келеді / келер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8004" y="4084929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5395" y="4084929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Другие формы того же глагола: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талқылап / талқылады / талқылау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8004" y="4568037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5395" y="4568037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Формы с невозможными сочетаниями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звуков отбраковываются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Задания порождаются скриптом из исходного содержания и проверяются автоматически: в наборе не может оказаться задания без верного ответа или с двумя одинаковыми вариантами.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431" y="2258568"/>
            <a:ext cx="5245455" cy="2604261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258568"/>
            <a:ext cx="5245455" cy="2512060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258568"/>
            <a:ext cx="32004" cy="2512060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РЕШЕНИЕ · ПОВТОРЕНИЕ И ДИЗАЙН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9551"/>
            <a:ext cx="10692079" cy="11838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852"/>
              </a:lnSpc>
            </a:pPr>
            <a:r>
              <a:rPr sz="3600" spc="-79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Приложение возвращает задание ровно тогда,</a:t>
            </a:r>
          </a:p>
          <a:p>
            <a:pPr algn="l">
              <a:lnSpc>
                <a:spcPts val="3852"/>
              </a:lnSpc>
            </a:pPr>
            <a:r>
              <a:rPr sz="3600" spc="-79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когда его пора вспомнить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492248"/>
            <a:ext cx="4696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ИНТЕРВАЛЬНОЕ ПОВТОРЕНИЕ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764028"/>
            <a:ext cx="4696815" cy="1239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Каждое задание — карточка со своим сроком. Ответил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уверенно — вернётся через несколько дней. Ошибся —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вернётся завтра. Интервалы растут: 1 → 3 → дальше по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коэффициенту, который зависит от того, как ученик отвечал</a:t>
            </a:r>
          </a:p>
          <a:p>
            <a:pPr algn="l">
              <a:lnSpc>
                <a:spcPts val="1800"/>
              </a:lnSpc>
            </a:pPr>
            <a:r>
              <a:rPr sz="12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раньше.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4057396"/>
            <a:ext cx="4696815" cy="491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A6ADB6"/>
                </a:solidFill>
                <a:latin typeface="GQ Text Medium"/>
                <a:cs typeface="GQ Text Medium"/>
                <a:ea typeface="GQ Text Medium"/>
              </a:rPr>
              <a:t>Прежний экран повторения показывал пройденное подряд, без</a:t>
            </a:r>
          </a:p>
          <a:p>
            <a:pPr algn="l">
              <a:lnSpc>
                <a:spcPts val="1600"/>
              </a:lnSpc>
            </a:pPr>
            <a:r>
              <a:rPr sz="1100">
                <a:solidFill>
                  <a:srgbClr val="A6ADB6"/>
                </a:solidFill>
                <a:latin typeface="GQ Text Medium"/>
                <a:cs typeface="GQ Text Medium"/>
                <a:ea typeface="GQ Text Medium"/>
              </a:rPr>
              <a:t>учёта забывания.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2492248"/>
            <a:ext cx="4696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48CD8C"/>
                </a:solidFill>
                <a:latin typeface="IBM Plex Mono SemiBold"/>
                <a:cs typeface="IBM Plex Mono SemiBold"/>
                <a:ea typeface="IBM Plex Mono SemiBold"/>
              </a:rPr>
              <a:t>ИНТЕРФЕЙС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0751" y="2767888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7667" y="2767888"/>
            <a:ext cx="4479899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Шрифт с полным казахским покрытием, вшит в приложение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751" y="3091230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7667" y="3091230"/>
            <a:ext cx="4479899" cy="4948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Светлая и тёмная темы, контраст проверен по стандарту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WCAG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0751" y="3619042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7667" y="3619042"/>
            <a:ext cx="4479899" cy="4948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Убраны эффекты, мешавшие читать: размытия, градиентный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фон, частицы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4146854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7667" y="4146854"/>
            <a:ext cx="4479899" cy="4948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Разбор ответа подсвечивает окончание — то, чему и учит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урок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Контраст палитры проверяется скриптом: 28 проверок, все проходят стандарт WCAG AA.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9743" y="2420874"/>
            <a:ext cx="2522143" cy="169722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6431" y="2420874"/>
            <a:ext cx="2522143" cy="169722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3119" y="2420874"/>
            <a:ext cx="2522143" cy="169722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2420874"/>
            <a:ext cx="2522143" cy="1697227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ДЕМОНСТРАЦИЯ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7332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Как это выглядит и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3855"/>
            <a:ext cx="8339821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Живой показ: открыть урок, ответить русскими буквами и показать, что ответ засчитан с подсказкой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 правильном написании.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36266"/>
            <a:ext cx="204665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70982"/>
            <a:ext cx="2046655" cy="328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Открыть урок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37230"/>
            <a:ext cx="2046655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Диалог с персонажем, затем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правило, затем задание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0863" y="2636266"/>
            <a:ext cx="204665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0863" y="2870982"/>
            <a:ext cx="2046655" cy="5605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Ответить без</a:t>
            </a:r>
          </a:p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казахских букв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0863" y="3468878"/>
            <a:ext cx="2046655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Написать «окып жатырмын» —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так, как может ученик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2636266"/>
            <a:ext cx="204665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5" y="2870982"/>
            <a:ext cx="2046655" cy="328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Показать 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3237230"/>
            <a:ext cx="2046655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«Грамматика верна» плюс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подсказка: в казахском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пишется 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7487" y="2636266"/>
            <a:ext cx="204665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44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487" y="2870982"/>
            <a:ext cx="2046655" cy="5605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Открыть</a:t>
            </a:r>
          </a:p>
          <a:p>
            <a:pPr algn="l">
              <a:lnSpc>
                <a:spcPts val="1824"/>
              </a:lnSpc>
            </a:pPr>
            <a:r>
              <a:rPr sz="1600" spc="-29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повторение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7487" y="3468878"/>
            <a:ext cx="2046655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Задание с ошибкой уже стоит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 очереди на завтра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392422"/>
            <a:ext cx="10692079" cy="94043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4591507"/>
            <a:ext cx="10143439" cy="57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Запасной вариант. </a:t>
            </a: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 Если в аудитории нет интернета — приложение установлено на телефон заранее и работает офлайн. Показ</a:t>
            </a:r>
          </a:p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не зависит от связи.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1972" y="2937510"/>
            <a:ext cx="3429914" cy="2584704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11972" y="2937510"/>
            <a:ext cx="32004" cy="2584704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0890" y="2937510"/>
            <a:ext cx="3429914" cy="2584704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0890" y="2937510"/>
            <a:ext cx="32004" cy="2584704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2937510"/>
            <a:ext cx="3429914" cy="2584704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" y="2937510"/>
            <a:ext cx="32004" cy="258470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ПРОДУКТ · МОБИЛЬНОЕ 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14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7377"/>
            <a:ext cx="10692079" cy="1216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700" spc="-8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Приложение ставится на телефон и работает</a:t>
            </a:r>
          </a:p>
          <a:p>
            <a:pPr algn="l">
              <a:lnSpc>
                <a:spcPts val="3959"/>
              </a:lnSpc>
            </a:pPr>
            <a:r>
              <a:rPr sz="3700" spc="-81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без интернета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92203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Тренажёр нужен там, где им пользуются: в дороге, дома, на перемене. Поэтому всё содержание лежит внутри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приложения, а не запрашивается с сервера.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49528"/>
            <a:ext cx="2917850" cy="390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Android · APK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21633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3231" y="3621633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Файл устанавливается напрямую,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магазин не нужен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04741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3231" y="4104741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Собирается автоматически при каждом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изменении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87849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3231" y="4587849"/>
            <a:ext cx="2710459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Скачивается по ссылке или QR-коду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922" y="3149528"/>
            <a:ext cx="2917850" cy="665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iPhone и любой браузер</a:t>
            </a:r>
          </a:p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· 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3896715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793D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4313" y="3896715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Открыть сайт и выбрать «На экран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„Домой“»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4379823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793D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4313" y="4379823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Появляется иконка, запускается без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адресной строки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922" y="4862931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00793D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4313" y="4862931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После первого запуска работает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офлайн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8004" y="3149528"/>
            <a:ext cx="2917850" cy="390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sz="1900" spc="-3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Компьютер · сайт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8004" y="3621633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7F5400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5395" y="3621633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Работает в любом браузере без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установки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8004" y="4104741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7F5400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5395" y="4104741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Подходит для урока в компьютерном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классе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8004" y="4587849"/>
            <a:ext cx="207391" cy="2650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7F5400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5395" y="4587849"/>
            <a:ext cx="2710459" cy="4517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Один и тот же прогресс сохраняется на</a:t>
            </a:r>
          </a:p>
          <a:p>
            <a:pPr algn="l">
              <a:lnSpc>
                <a:spcPts val="1470"/>
              </a:lnSpc>
            </a:pPr>
            <a:r>
              <a:rPr sz="105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устройстве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Размер приложения: около 1,3 МБ вместе со шрифтами, изображениями и всем учебным содержанием. Установка занимает секунды даже на медленном интернете.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АПРОБАЦИЯ · ПЛАН ЭКСПЕРИМЕНТА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7332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Как я буду проверять, что стало лучше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3855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Приложение само записывает, как ученик отвечал, и выгружает данные в таблицу. Это даёт объективные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числа вместо впечатлений.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439162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434590"/>
            <a:ext cx="2508427" cy="27432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6266"/>
            <a:ext cx="2508427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2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44200"/>
            <a:ext cx="2508427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Предварительный срез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57981"/>
            <a:ext cx="2508427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5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день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5439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023" y="3454399"/>
            <a:ext cx="2304211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Контрольная работа на бумаге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72363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023" y="3723639"/>
            <a:ext cx="2304211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Анкета: сколько минут в день на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казахский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7691" y="2434590"/>
            <a:ext cx="2508427" cy="27432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7691" y="2636266"/>
            <a:ext cx="2508427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2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7691" y="2844200"/>
            <a:ext cx="2508427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Занятия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7691" y="3157981"/>
            <a:ext cx="2508427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5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дни 2–6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7691" y="345439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1907" y="3454399"/>
            <a:ext cx="2304211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По 10–15 минут в день в приложении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7691" y="372363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1907" y="3723639"/>
            <a:ext cx="2304211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Данные пишутся автоматически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5575" y="2434590"/>
            <a:ext cx="2508427" cy="27432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5575" y="2636266"/>
            <a:ext cx="2508427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2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5575" y="2844200"/>
            <a:ext cx="2508427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Итоговый срез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5575" y="3157981"/>
            <a:ext cx="2508427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5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день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575" y="345439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791" y="3454399"/>
            <a:ext cx="2304211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Такая же работа, другие слова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5575" y="372363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791" y="3723639"/>
            <a:ext cx="2304211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Сравнение с первым срезом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33459" y="2434590"/>
            <a:ext cx="2508427" cy="27432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33459" y="2636266"/>
            <a:ext cx="2508427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spc="12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459" y="2844200"/>
            <a:ext cx="2508427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Обработка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459" y="3157981"/>
            <a:ext cx="2508427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5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дни 8–10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3459" y="345439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7675" y="3454399"/>
            <a:ext cx="2304211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Выгрузка CSV, расчёт показателей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459" y="3723639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7675" y="3723639"/>
            <a:ext cx="2304211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Сравнение с контрольной группой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176522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4379722"/>
            <a:ext cx="5245455" cy="7383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2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Что измеряется: доля верных ответов, время на задание, число</a:t>
            </a:r>
          </a:p>
          <a:p>
            <a:pPr algn="l">
              <a:lnSpc>
                <a:spcPts val="1700"/>
              </a:lnSpc>
            </a:pPr>
            <a:r>
              <a:rPr sz="12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возвратов к одному заданию, доля ответов, набранных без</a:t>
            </a:r>
          </a:p>
          <a:p>
            <a:pPr algn="l">
              <a:lnSpc>
                <a:spcPts val="1700"/>
              </a:lnSpc>
            </a:pPr>
            <a:r>
              <a:rPr sz="120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казахских букв.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6431" y="4379722"/>
            <a:ext cx="5245455" cy="5224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Персональные данные не собираются. В таблице стоит только метка</a:t>
            </a:r>
          </a:p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участника вида «7А-12», которую задаёт сам ученик.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КАК ЭТО СДЕЛАНО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7332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Из чего собран проект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93855"/>
            <a:ext cx="8339821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Приложение написано на тех же инструментах, на которых делают настоящие продукты. Ниже — что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за что отвечает.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76144"/>
            <a:ext cx="2138415" cy="199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spc="119">
                <a:solidFill>
                  <a:srgbClr val="535C66"/>
                </a:solidFill>
                <a:latin typeface="IBM Plex Mono SemiBold"/>
                <a:cs typeface="IBM Plex Mono SemiBold"/>
                <a:ea typeface="IBM Plex Mono SemiBold"/>
              </a:rPr>
              <a:t>ИНСТРУМЕНТ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223" y="2476144"/>
            <a:ext cx="2566099" cy="199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spc="119">
                <a:solidFill>
                  <a:srgbClr val="535C66"/>
                </a:solidFill>
                <a:latin typeface="IBM Plex Mono SemiBold"/>
                <a:cs typeface="IBM Plex Mono SemiBold"/>
                <a:ea typeface="IBM Plex Mono SemiBold"/>
              </a:rPr>
              <a:t>ЧТО ЭТО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4322" y="2476144"/>
            <a:ext cx="5987564" cy="199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5"/>
              </a:lnSpc>
            </a:pPr>
            <a:r>
              <a:rPr sz="850" spc="119">
                <a:solidFill>
                  <a:srgbClr val="535C66"/>
                </a:solidFill>
                <a:latin typeface="IBM Plex Mono SemiBold"/>
                <a:cs typeface="IBM Plex Mono SemiBold"/>
                <a:ea typeface="IBM Plex Mono SemiBold"/>
              </a:rPr>
              <a:t>ЗАЧЕМ В ПРОЕКТЕ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731770"/>
            <a:ext cx="10692079" cy="7315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45963"/>
            <a:ext cx="2138415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8223" y="2845963"/>
            <a:ext cx="2566099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Язык программирования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4322" y="2845963"/>
            <a:ext cx="5987564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Проверяет ошибки до запуска: нельзя случайно сложить число со строкой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152394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266587"/>
            <a:ext cx="2138415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8223" y="3266587"/>
            <a:ext cx="2566099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Библиотека интерфейса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4322" y="3266587"/>
            <a:ext cx="5987564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Экран описывается как функция от данных — меньше ручной работы с разметкой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57301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87211"/>
            <a:ext cx="2138415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8223" y="3687211"/>
            <a:ext cx="2566099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Сборщик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4322" y="3687211"/>
            <a:ext cx="5987564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Собирает исходники в файлы, которые открывает браузер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993641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107835"/>
            <a:ext cx="2138415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Capacitor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8223" y="4107835"/>
            <a:ext cx="2566099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Упаковка в приложение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4322" y="4107835"/>
            <a:ext cx="5987564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Оборачивает готовый сайт в настоящее Android-приложение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4414266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528459"/>
            <a:ext cx="2138415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GitHub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8223" y="4528459"/>
            <a:ext cx="2566099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Автоматическая сборка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4322" y="4528459"/>
            <a:ext cx="5987564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После каждого изменения сам собирает APK в облаке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4834890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949083"/>
            <a:ext cx="2138415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IBM Plex Mono Medium"/>
                <a:cs typeface="IBM Plex Mono Medium"/>
                <a:ea typeface="IBM Plex Mono Medium"/>
              </a:rP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8223" y="4949083"/>
            <a:ext cx="2566099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Скрипты обработки данных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4322" y="4949083"/>
            <a:ext cx="5987564" cy="265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4"/>
              </a:lnSpc>
            </a:pPr>
            <a:r>
              <a:rPr sz="11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Генерация заданий, проверка контраста, аудит шрифтов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" y="5255514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8" y="5456682"/>
            <a:ext cx="10692079" cy="94043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7" y="5655767"/>
            <a:ext cx="10143439" cy="57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Объём работы: </a:t>
            </a: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 около 4 700 строк собственного кода, 31 автоматический тест, 46 задокументированных исправлений</a:t>
            </a:r>
          </a:p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"/>
                <a:cs typeface="GQ Text"/>
                <a:ea typeface="GQ Text"/>
              </a:rPr>
              <a:t>учебного материала и примерно 151 тысяча знаков переписанного содержания.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Что показало исследование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84200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98472"/>
            <a:ext cx="706602" cy="234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spc="154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7578" y="1960270"/>
            <a:ext cx="3429914" cy="411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sz="2000" spc="-3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Гипотеза подтвердилась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8661" y="1990344"/>
            <a:ext cx="6153226" cy="5224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Главные барьеры оказались техническими, а не языковыми: невозможность</a:t>
            </a:r>
          </a:p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ввести ответ, шрифт без нужных букв, объяснения не про тот язык.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866136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22600"/>
            <a:ext cx="706602" cy="234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spc="154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7578" y="2984398"/>
            <a:ext cx="3429914" cy="411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sz="2000" spc="-3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Барьеры устранимы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8661" y="3014472"/>
            <a:ext cx="6153226" cy="5224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Все четыре найденные причины удалось убрать, не меняя учебную программу:</a:t>
            </a:r>
          </a:p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изменились проверка, содержание и интерфейс, а темы остались школьные.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890264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46728"/>
            <a:ext cx="706602" cy="2344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spc="154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7578" y="4008526"/>
            <a:ext cx="3429914" cy="411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sz="2000" spc="-3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Метод важнее результата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8661" y="4038600"/>
            <a:ext cx="6153226" cy="5224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Дефекты нашлись потому, что их искали измерением, а не на глаз. Тот же подход</a:t>
            </a:r>
          </a:p>
          <a:p>
            <a:pPr algn="l">
              <a:lnSpc>
                <a:spcPts val="1700"/>
              </a:lnSpc>
            </a:pPr>
            <a:r>
              <a:rPr sz="11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применим к любому учебному приложению.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914392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431450"/>
            <a:ext cx="18288" cy="30590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808" y="1458076"/>
            <a:ext cx="18288" cy="27928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1809" y="1418020"/>
            <a:ext cx="18288" cy="31933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809" y="1267825"/>
            <a:ext cx="18288" cy="46953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3810" y="1364415"/>
            <a:ext cx="18288" cy="37294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811" y="1242648"/>
            <a:ext cx="18288" cy="4947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5811" y="1263999"/>
            <a:ext cx="18288" cy="4733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812" y="1204862"/>
            <a:ext cx="18288" cy="53249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812" y="1125002"/>
            <a:ext cx="18288" cy="61235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8813" y="1191766"/>
            <a:ext cx="18288" cy="54559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9814" y="1104599"/>
            <a:ext cx="18288" cy="6327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4" y="1156212"/>
            <a:ext cx="18288" cy="58114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1815" y="1138558"/>
            <a:ext cx="18288" cy="59880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02815" y="1147769"/>
            <a:ext cx="18288" cy="58959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816" y="1225828"/>
            <a:ext cx="18288" cy="51153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4817" y="1190721"/>
            <a:ext cx="18288" cy="5466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5817" y="1110759"/>
            <a:ext cx="18288" cy="6266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6818" y="1346775"/>
            <a:ext cx="18288" cy="39058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7818" y="1114905"/>
            <a:ext cx="18288" cy="62245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8819" y="1198199"/>
            <a:ext cx="18288" cy="5391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9820" y="1257990"/>
            <a:ext cx="18288" cy="4793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820" y="1241322"/>
            <a:ext cx="18288" cy="4960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1821" y="1395530"/>
            <a:ext cx="18288" cy="34182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2821" y="1305768"/>
            <a:ext cx="18288" cy="4315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3822" y="1297088"/>
            <a:ext cx="18288" cy="44027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74822" y="1484615"/>
            <a:ext cx="18288" cy="25274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5823" y="1336615"/>
            <a:ext cx="18288" cy="40074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36824" y="1554248"/>
            <a:ext cx="18288" cy="1831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824" y="1599557"/>
            <a:ext cx="18288" cy="13780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98825" y="1557131"/>
            <a:ext cx="18288" cy="18022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9826" y="1443516"/>
            <a:ext cx="18288" cy="29384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0826" y="1565656"/>
            <a:ext cx="18288" cy="17170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41827" y="1576622"/>
            <a:ext cx="18288" cy="1607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2827" y="1287447"/>
            <a:ext cx="18288" cy="44991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3828" y="1327707"/>
            <a:ext cx="18288" cy="40965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4829" y="1348079"/>
            <a:ext cx="18288" cy="38928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5829" y="1250183"/>
            <a:ext cx="18288" cy="48717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6830" y="1467283"/>
            <a:ext cx="18288" cy="27007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27830" y="1406896"/>
            <a:ext cx="18288" cy="33046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08831" y="1272832"/>
            <a:ext cx="18288" cy="46452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89832" y="1361934"/>
            <a:ext cx="18288" cy="375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70832" y="1371781"/>
            <a:ext cx="18288" cy="36557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51833" y="1373489"/>
            <a:ext cx="18288" cy="36387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2833" y="1239470"/>
            <a:ext cx="18288" cy="4978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13834" y="1135889"/>
            <a:ext cx="18288" cy="60147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4835" y="937497"/>
            <a:ext cx="18288" cy="79986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75835" y="1218239"/>
            <a:ext cx="18288" cy="51912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56836" y="1045265"/>
            <a:ext cx="18288" cy="6920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37836" y="1006477"/>
            <a:ext cx="18288" cy="7308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18837" y="899281"/>
            <a:ext cx="18288" cy="83807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99838" y="1222264"/>
            <a:ext cx="18288" cy="51509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0838" y="1090252"/>
            <a:ext cx="18288" cy="64710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61839" y="1222602"/>
            <a:ext cx="18288" cy="51475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42839" y="1232213"/>
            <a:ext cx="18288" cy="505146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3840" y="1326410"/>
            <a:ext cx="18288" cy="410949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04841" y="1249215"/>
            <a:ext cx="18288" cy="488144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5841" y="1162874"/>
            <a:ext cx="18288" cy="574485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6842" y="1297845"/>
            <a:ext cx="18288" cy="439514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7842" y="1504247"/>
            <a:ext cx="18288" cy="233112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8843" y="1327134"/>
            <a:ext cx="18288" cy="410225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09844" y="1258814"/>
            <a:ext cx="18288" cy="478545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90844" y="1569016"/>
            <a:ext cx="18288" cy="168343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71845" y="1520755"/>
            <a:ext cx="18288" cy="216604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52845" y="1448508"/>
            <a:ext cx="18288" cy="288851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33846" y="1684349"/>
            <a:ext cx="18288" cy="53010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4847" y="1696212"/>
            <a:ext cx="18288" cy="41148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5847" y="1629088"/>
            <a:ext cx="18288" cy="108271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6848" y="1585543"/>
            <a:ext cx="18288" cy="151816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57848" y="1481786"/>
            <a:ext cx="18288" cy="255573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38849" y="1696212"/>
            <a:ext cx="18288" cy="41148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19850" y="1696212"/>
            <a:ext cx="18288" cy="41148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00850" y="1591977"/>
            <a:ext cx="18288" cy="145382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1851" y="1686902"/>
            <a:ext cx="18288" cy="50457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62851" y="1696212"/>
            <a:ext cx="18288" cy="41148"/>
          </a:xfrm>
          <a:prstGeom prst="rect">
            <a:avLst/>
          </a:prstGeom>
          <a:solidFill>
            <a:srgbClr val="59AA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852" y="1696212"/>
            <a:ext cx="18288" cy="4114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24853" y="1680801"/>
            <a:ext cx="18288" cy="565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05853" y="1551668"/>
            <a:ext cx="18288" cy="1856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86854" y="1500487"/>
            <a:ext cx="18288" cy="23687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67854" y="1385911"/>
            <a:ext cx="18288" cy="35144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148855" y="1440228"/>
            <a:ext cx="18288" cy="29713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29856" y="1373748"/>
            <a:ext cx="18288" cy="3636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10856" y="1417106"/>
            <a:ext cx="18288" cy="32025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91857" y="1205927"/>
            <a:ext cx="18288" cy="53143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72857" y="1187477"/>
            <a:ext cx="18288" cy="5498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53858" y="1188606"/>
            <a:ext cx="18288" cy="54875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34859" y="1183521"/>
            <a:ext cx="18288" cy="5538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15859" y="1316022"/>
            <a:ext cx="18288" cy="4213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96860" y="1312426"/>
            <a:ext cx="18288" cy="4249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77860" y="1334288"/>
            <a:ext cx="18288" cy="40307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58861" y="1280030"/>
            <a:ext cx="18288" cy="45732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9862" y="1275677"/>
            <a:ext cx="18288" cy="4616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20862" y="1148877"/>
            <a:ext cx="18288" cy="5884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1863" y="1274433"/>
            <a:ext cx="18288" cy="46292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82863" y="1375903"/>
            <a:ext cx="18288" cy="36145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63864" y="1294207"/>
            <a:ext cx="18288" cy="44315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44865" y="1419848"/>
            <a:ext cx="18288" cy="3175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25865" y="1432314"/>
            <a:ext cx="18288" cy="3050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06866" y="1425165"/>
            <a:ext cx="18288" cy="3121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7866" y="1338598"/>
            <a:ext cx="18288" cy="3987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8867" y="1548726"/>
            <a:ext cx="18288" cy="1886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9868" y="1552285"/>
            <a:ext cx="18288" cy="18507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30868" y="1545024"/>
            <a:ext cx="18288" cy="19233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11869" y="1488027"/>
            <a:ext cx="18288" cy="24933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92869" y="1605969"/>
            <a:ext cx="18288" cy="13139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73870" y="1535944"/>
            <a:ext cx="18288" cy="2014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54871" y="1557801"/>
            <a:ext cx="18288" cy="1795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35871" y="1511903"/>
            <a:ext cx="18288" cy="22545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6872" y="1544799"/>
            <a:ext cx="18288" cy="1925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97872" y="1653556"/>
            <a:ext cx="18288" cy="8380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78873" y="1636738"/>
            <a:ext cx="18288" cy="10062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59874" y="1500615"/>
            <a:ext cx="18288" cy="23674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40874" y="1576237"/>
            <a:ext cx="18288" cy="16112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21875" y="1614829"/>
            <a:ext cx="18288" cy="1225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02875" y="1589029"/>
            <a:ext cx="18288" cy="1483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83876" y="1493989"/>
            <a:ext cx="18288" cy="24337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64877" y="1515943"/>
            <a:ext cx="18288" cy="2214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45877" y="1466522"/>
            <a:ext cx="18288" cy="2708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26878" y="1477125"/>
            <a:ext cx="18288" cy="26023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07878" y="1537352"/>
            <a:ext cx="18288" cy="20000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88879" y="1436905"/>
            <a:ext cx="18288" cy="30045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69880" y="1516546"/>
            <a:ext cx="18288" cy="22081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50880" y="1458712"/>
            <a:ext cx="18288" cy="27864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31881" y="1483649"/>
            <a:ext cx="18288" cy="25371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712881" y="1508339"/>
            <a:ext cx="18288" cy="22902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793882" y="1487181"/>
            <a:ext cx="18288" cy="25017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874883" y="1513920"/>
            <a:ext cx="18288" cy="22343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955883" y="1417175"/>
            <a:ext cx="18288" cy="32018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84" y="1480451"/>
            <a:ext cx="18288" cy="2569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17884" y="1440734"/>
            <a:ext cx="18288" cy="2966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198885" y="1510898"/>
            <a:ext cx="18288" cy="2264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79886" y="1495832"/>
            <a:ext cx="18288" cy="24152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60886" y="1436998"/>
            <a:ext cx="18288" cy="3003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9808" y="1883664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9808" y="2043175"/>
            <a:ext cx="10692079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180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ЧТО ДАЛЬШЕ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2389632"/>
            <a:ext cx="10692079" cy="1475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200" spc="-109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Провести апробацию и открыть</a:t>
            </a:r>
          </a:p>
          <a:p>
            <a:pPr algn="l">
              <a:lnSpc>
                <a:spcPts val="4800"/>
              </a:lnSpc>
            </a:pPr>
            <a:r>
              <a:rPr sz="4200" spc="-109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приложение школам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9808" y="4142232"/>
            <a:ext cx="3429914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БЛИЖАЙШЕЕ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4393641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0373" y="4393641"/>
            <a:ext cx="3219348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Провести эксперимент на одном классе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9808" y="469894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60373" y="4698949"/>
            <a:ext cx="3219348" cy="4733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Заменить план эксперимента реальными</a:t>
            </a:r>
          </a:p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числами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80890" y="4142232"/>
            <a:ext cx="3429914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СЛЕДУЮЩИЙ ШАГ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380890" y="4393641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91456" y="4393641"/>
            <a:ext cx="3219348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Записать озвучку с носителем языка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80890" y="469894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91456" y="4698949"/>
            <a:ext cx="3219348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Добавить уроки по школьной программе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011972" y="4142232"/>
            <a:ext cx="3429914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ПЕРСПЕКТИВА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11972" y="4393641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22538" y="4393641"/>
            <a:ext cx="3219348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Режим учителя: статистика класса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11972" y="469894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222538" y="4698949"/>
            <a:ext cx="3219348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Открыть исходный код для других школ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49808" y="5931408"/>
            <a:ext cx="10692079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00">
                <a:solidFill>
                  <a:srgbClr val="8B929B"/>
                </a:solidFill>
                <a:latin typeface="GQ Text Medium"/>
                <a:cs typeface="GQ Text Medium"/>
                <a:ea typeface="GQ Text Medium"/>
              </a:rPr>
              <a:t>Фамилия Имя · __ класс · школа №__, г. ____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49808" y="6287008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6B727B"/>
                </a:solidFill>
                <a:latin typeface="IBM Plex Mono Medium"/>
                <a:cs typeface="IBM Plex Mono Medium"/>
                <a:ea typeface="IBM Plex Mono Medium"/>
              </a:rPr>
              <a:t>GRAMMARQUEST-WEB.VERCEL.APP · 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